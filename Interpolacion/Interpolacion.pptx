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8" r:id="rId3"/>
    <p:sldId id="260" r:id="rId4"/>
    <p:sldId id="257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20"/>
    <p:restoredTop sz="94668"/>
  </p:normalViewPr>
  <p:slideViewPr>
    <p:cSldViewPr snapToGrid="0">
      <p:cViewPr varScale="1">
        <p:scale>
          <a:sx n="119" d="100"/>
          <a:sy n="119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1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0359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0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D3EF-4B20-78FE-3897-D933C825E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5" b="259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B13E1-0E7B-4892-1BA2-A25E50F8A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7237" y="898373"/>
            <a:ext cx="5036526" cy="3474720"/>
          </a:xfrm>
        </p:spPr>
        <p:txBody>
          <a:bodyPr anchor="b">
            <a:normAutofit/>
          </a:bodyPr>
          <a:lstStyle/>
          <a:p>
            <a:pPr algn="l"/>
            <a:r>
              <a:rPr lang="es-ES_tradnl" sz="5800" noProof="0" dirty="0"/>
              <a:t>Interpolación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33A2C-7F87-E0EE-5B92-C10D7AD02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2"/>
            <a:ext cx="4116410" cy="1610365"/>
          </a:xfrm>
        </p:spPr>
        <p:txBody>
          <a:bodyPr anchor="t">
            <a:normAutofit/>
          </a:bodyPr>
          <a:lstStyle/>
          <a:p>
            <a:pPr algn="l"/>
            <a:r>
              <a:rPr lang="es-ES_tradnl" sz="2200" noProof="0" dirty="0"/>
              <a:t>Programación científica</a:t>
            </a:r>
          </a:p>
          <a:p>
            <a:pPr algn="l"/>
            <a:r>
              <a:rPr lang="es-ES_tradnl" sz="2200" noProof="0" dirty="0">
                <a:solidFill>
                  <a:srgbClr val="00B0F0"/>
                </a:solidFill>
              </a:rPr>
              <a:t>Manuela Bastidas </a:t>
            </a:r>
          </a:p>
          <a:p>
            <a:pPr algn="l"/>
            <a:r>
              <a:rPr lang="es-ES_tradnl" sz="2200" noProof="0" dirty="0"/>
              <a:t>20 de Mayo 2026</a:t>
            </a:r>
          </a:p>
        </p:txBody>
      </p:sp>
    </p:spTree>
    <p:extLst>
      <p:ext uri="{BB962C8B-B14F-4D97-AF65-F5344CB8AC3E}">
        <p14:creationId xmlns:p14="http://schemas.microsoft.com/office/powerpoint/2010/main" val="1336284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23AD-CFB9-1A81-06FC-30DCF117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El problema de la interpolación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0EB2-7D4A-7142-C5A0-74AA1F2C7AB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89915" y="1364792"/>
            <a:ext cx="6078608" cy="13348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Tenemos unos puntos y queremos construir una función que pase por esos puntos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1827A-1DD8-55F2-8B8B-B7EAD6BCF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555" y="2383556"/>
            <a:ext cx="7728883" cy="417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6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069BF-6269-7EC8-A3FA-483165A7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¿Para qué?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87C426-DC6E-957D-1543-A5BB3D9DD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774" y="1476753"/>
            <a:ext cx="10382250" cy="324409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_tradnl" sz="2800" b="0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Trazar una curva suave a través de puntos de datos discretos.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_tradnl" sz="2800" b="0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Leer entre líneas de una tabla de datos.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_tradnl" sz="2800" b="0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Derivar o integrar datos tabulares.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_tradnl" sz="2800" b="0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Evaluación rápida y sencilla de una función matemática.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_tradnl" sz="2800" b="0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Reemplazar una función complicada por una simple.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8DC7D0-5F59-6042-5B84-0269786DE320}"/>
              </a:ext>
            </a:extLst>
          </p:cNvPr>
          <p:cNvSpPr txBox="1">
            <a:spLocks/>
          </p:cNvSpPr>
          <p:nvPr/>
        </p:nvSpPr>
        <p:spPr>
          <a:xfrm>
            <a:off x="612648" y="5381247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noProof="0" dirty="0"/>
              <a:t>Idea más básica … </a:t>
            </a:r>
          </a:p>
        </p:txBody>
      </p:sp>
    </p:spTree>
    <p:extLst>
      <p:ext uri="{BB962C8B-B14F-4D97-AF65-F5344CB8AC3E}">
        <p14:creationId xmlns:p14="http://schemas.microsoft.com/office/powerpoint/2010/main" val="27124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D497-CDF9-B248-F938-064C0755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Dos teoremas fundamentales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89310-358E-3D9C-E42D-D9A75DC388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69210" y="1651330"/>
            <a:ext cx="6508914" cy="17134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s-ES_tradnl" sz="2800" noProof="0" dirty="0">
                <a:solidFill>
                  <a:schemeClr val="accent3"/>
                </a:solidFill>
              </a:rPr>
              <a:t>Teorema fundamental del álgebra: </a:t>
            </a:r>
          </a:p>
          <a:p>
            <a:pPr marL="0" indent="0">
              <a:buNone/>
            </a:pPr>
            <a:r>
              <a:rPr lang="es-ES_tradnl" noProof="0" dirty="0">
                <a:solidFill>
                  <a:schemeClr val="bg1">
                    <a:lumMod val="50000"/>
                  </a:schemeClr>
                </a:solidFill>
              </a:rPr>
              <a:t>Un polinomio de grado n tiene exactamente n raíces (que pueden ser reales o imaginarias).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022EBD-C0FB-1181-E13C-DC53B741B18C}"/>
              </a:ext>
            </a:extLst>
          </p:cNvPr>
          <p:cNvSpPr txBox="1">
            <a:spLocks/>
          </p:cNvSpPr>
          <p:nvPr/>
        </p:nvSpPr>
        <p:spPr>
          <a:xfrm>
            <a:off x="769210" y="3814168"/>
            <a:ext cx="6508914" cy="22531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_tradnl" sz="2400" noProof="0" dirty="0">
                <a:solidFill>
                  <a:schemeClr val="accent1"/>
                </a:solidFill>
              </a:rPr>
              <a:t>Teorema de aproximación de Weierstrass</a:t>
            </a:r>
            <a:endParaRPr lang="es-ES_tradnl" noProof="0" dirty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s-ES_tradnl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_tradnl" noProof="0" dirty="0">
                <a:solidFill>
                  <a:schemeClr val="bg1">
                    <a:lumMod val="50000"/>
                  </a:schemeClr>
                </a:solidFill>
              </a:rPr>
              <a:t>Cualquier función continua en un intervalo cerrado y puede ser aproximada uniformemente mediante polinomios</a:t>
            </a:r>
          </a:p>
        </p:txBody>
      </p:sp>
      <p:pic>
        <p:nvPicPr>
          <p:cNvPr id="6" name="Graphic 5" descr="Question Mark with solid fill">
            <a:extLst>
              <a:ext uri="{FF2B5EF4-FFF2-40B4-BE49-F238E27FC236}">
                <a16:creationId xmlns:a16="http://schemas.microsoft.com/office/drawing/2014/main" id="{E2ED4F75-036F-FAB6-050A-53C7752C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1133" y="1841830"/>
            <a:ext cx="3355093" cy="335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7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DDF10A-E0DA-E469-DCF5-197EDA629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11" y="345440"/>
            <a:ext cx="10653578" cy="1132258"/>
          </a:xfrm>
        </p:spPr>
        <p:txBody>
          <a:bodyPr/>
          <a:lstStyle/>
          <a:p>
            <a:r>
              <a:rPr lang="es-ES_tradnl" noProof="0" dirty="0"/>
              <a:t>Polinomios de Lagrange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3C8FD-B681-36BA-D80E-0C562A8C7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241769"/>
            <a:ext cx="8458200" cy="537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6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D2FF-7588-B571-4AC5-669E63FF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Unicidad y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13A06-C8BA-1414-F23C-328B7BAF9BF0}"/>
              </a:ext>
            </a:extLst>
          </p:cNvPr>
          <p:cNvSpPr txBox="1"/>
          <p:nvPr/>
        </p:nvSpPr>
        <p:spPr>
          <a:xfrm>
            <a:off x="668937" y="1537480"/>
            <a:ext cx="527050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_tradnl" sz="24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 muchas formas de representar o calcular el polinomio interpolador, pero en teoría todas deben dar el mismo resultado.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EABC8-B0BC-6223-2BBF-BCFFEB02A829}"/>
              </a:ext>
            </a:extLst>
          </p:cNvPr>
          <p:cNvSpPr txBox="1"/>
          <p:nvPr/>
        </p:nvSpPr>
        <p:spPr>
          <a:xfrm>
            <a:off x="1424587" y="4002148"/>
            <a:ext cx="9167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docs.scipy.org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generated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scipy.interpolate.lagrange.html</a:t>
            </a:r>
            <a:endParaRPr lang="es-ES_tradnl" sz="1400" noProof="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841C7-4C49-4882-EE44-1B2DDDFE3FAA}"/>
              </a:ext>
            </a:extLst>
          </p:cNvPr>
          <p:cNvSpPr txBox="1"/>
          <p:nvPr/>
        </p:nvSpPr>
        <p:spPr>
          <a:xfrm>
            <a:off x="1424587" y="4533382"/>
            <a:ext cx="8456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numpy.org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stable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</a:t>
            </a:r>
            <a:r>
              <a:rPr lang="es-ES_tradnl" sz="14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400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routines.polynomials-package.html#module-numpy.polynomial</a:t>
            </a:r>
            <a:endParaRPr lang="es-ES_tradnl" sz="1400" noProof="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254D1D-552A-386F-D39B-CB18EABF8722}"/>
              </a:ext>
            </a:extLst>
          </p:cNvPr>
          <p:cNvSpPr txBox="1"/>
          <p:nvPr/>
        </p:nvSpPr>
        <p:spPr>
          <a:xfrm>
            <a:off x="1424587" y="5341615"/>
            <a:ext cx="9167214" cy="8309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_tradnl" sz="2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¿Será posible construir polinomios que no solo coincidan con la función sino con sus derivadas? y ¿dónde es mejor tomar datos?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218CF-FB16-4ABE-A9C8-3FB438CB55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47776" y="1422236"/>
            <a:ext cx="5054563" cy="18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51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F1EC-B7B0-6D62-8B55-2E3516DC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Técnicas de interpolación polinomial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2711C-445E-7002-546D-A7B688653EF9}"/>
              </a:ext>
            </a:extLst>
          </p:cNvPr>
          <p:cNvSpPr txBox="1"/>
          <p:nvPr/>
        </p:nvSpPr>
        <p:spPr>
          <a:xfrm>
            <a:off x="1086519" y="1589493"/>
            <a:ext cx="7945060" cy="32487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>
                <a:solidFill>
                  <a:schemeClr val="accent3"/>
                </a:solidFill>
              </a:rPr>
              <a:t>Base </a:t>
            </a:r>
            <a:r>
              <a:rPr lang="es-ES_tradnl" sz="2800" dirty="0" err="1">
                <a:solidFill>
                  <a:schemeClr val="accent3"/>
                </a:solidFill>
              </a:rPr>
              <a:t>monomial</a:t>
            </a:r>
            <a:endParaRPr lang="es-ES_tradnl" sz="2800" dirty="0">
              <a:solidFill>
                <a:schemeClr val="accent3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>
                <a:solidFill>
                  <a:schemeClr val="accent3"/>
                </a:solidFill>
              </a:rPr>
              <a:t>Polinomios de Lagrange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>
                <a:solidFill>
                  <a:schemeClr val="accent3"/>
                </a:solidFill>
              </a:rPr>
              <a:t>Polinomio de Newton (Diferencias divididas)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>
                <a:solidFill>
                  <a:schemeClr val="accent6">
                    <a:lumMod val="50000"/>
                  </a:schemeClr>
                </a:solidFill>
              </a:rPr>
              <a:t>Polinomios de </a:t>
            </a:r>
            <a:r>
              <a:rPr lang="es-ES_tradnl" sz="2800" dirty="0" err="1">
                <a:solidFill>
                  <a:schemeClr val="accent6">
                    <a:lumMod val="50000"/>
                  </a:schemeClr>
                </a:solidFill>
              </a:rPr>
              <a:t>Chebyshev</a:t>
            </a:r>
            <a:endParaRPr lang="es-ES_tradnl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>
                <a:solidFill>
                  <a:schemeClr val="accent6">
                    <a:lumMod val="50000"/>
                  </a:schemeClr>
                </a:solidFill>
              </a:rPr>
              <a:t>Polinomios de </a:t>
            </a:r>
            <a:r>
              <a:rPr lang="es-ES_tradnl" sz="2800" dirty="0" err="1">
                <a:solidFill>
                  <a:schemeClr val="accent6">
                    <a:lumMod val="50000"/>
                  </a:schemeClr>
                </a:solidFill>
              </a:rPr>
              <a:t>Hermite</a:t>
            </a:r>
            <a:endParaRPr lang="es-ES_tradnl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F6A380C-C426-7D16-1D47-0681EC8896E7}"/>
              </a:ext>
            </a:extLst>
          </p:cNvPr>
          <p:cNvSpPr/>
          <p:nvPr/>
        </p:nvSpPr>
        <p:spPr>
          <a:xfrm>
            <a:off x="806823" y="1764255"/>
            <a:ext cx="408791" cy="1839557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0432E96-2065-1564-94C9-5C413DA71C77}"/>
              </a:ext>
            </a:extLst>
          </p:cNvPr>
          <p:cNvSpPr/>
          <p:nvPr/>
        </p:nvSpPr>
        <p:spPr>
          <a:xfrm rot="10800000">
            <a:off x="5960949" y="3603812"/>
            <a:ext cx="491266" cy="1234391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69672-3460-18F6-5A85-23876D308704}"/>
              </a:ext>
            </a:extLst>
          </p:cNvPr>
          <p:cNvSpPr txBox="1"/>
          <p:nvPr/>
        </p:nvSpPr>
        <p:spPr>
          <a:xfrm>
            <a:off x="6314739" y="5268507"/>
            <a:ext cx="4951487" cy="8309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_tradnl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Cuidado con los problemas de la interpolación, ej. </a:t>
            </a:r>
            <a:r>
              <a:rPr lang="es-ES_tradnl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Aliasing</a:t>
            </a:r>
            <a:r>
              <a:rPr lang="es-ES_tradnl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Runge</a:t>
            </a:r>
            <a:endParaRPr lang="es-ES_tradnl" sz="24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64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04CD-13B9-6C8C-06C1-8D0B0320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Cubic</a:t>
            </a:r>
            <a:r>
              <a:rPr lang="es-ES_tradnl" dirty="0"/>
              <a:t> </a:t>
            </a:r>
            <a:r>
              <a:rPr lang="es-ES_tradnl" dirty="0" err="1"/>
              <a:t>splines</a:t>
            </a:r>
            <a:endParaRPr lang="es-ES_trad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D1CDC-45B4-E930-0237-496DD9B5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410" y="1680898"/>
            <a:ext cx="8311032" cy="432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6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489C-2C9A-E474-7458-627F4D23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Curvas de </a:t>
            </a:r>
            <a:r>
              <a:rPr lang="es-ES_tradnl" dirty="0" err="1"/>
              <a:t>Bezier</a:t>
            </a:r>
            <a:endParaRPr lang="es-ES_trad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A49A3-7A2F-CA39-29AF-AA87CD003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194"/>
            <a:ext cx="12192000" cy="39836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589E98-4BA2-DCC0-5CFD-5B380FFA82CE}"/>
              </a:ext>
            </a:extLst>
          </p:cNvPr>
          <p:cNvSpPr txBox="1"/>
          <p:nvPr/>
        </p:nvSpPr>
        <p:spPr>
          <a:xfrm>
            <a:off x="612648" y="5860769"/>
            <a:ext cx="11261673" cy="4462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_tradnl" sz="2300" dirty="0"/>
              <a:t>Polinomios de Bernstein y el algoritmo </a:t>
            </a:r>
            <a:r>
              <a:rPr lang="en-US" sz="2300" dirty="0" err="1"/>
              <a:t>Casteljau</a:t>
            </a:r>
            <a:r>
              <a:rPr lang="en-US" sz="2300" dirty="0"/>
              <a:t> &gt;&gt; </a:t>
            </a:r>
            <a:r>
              <a:rPr lang="en-US" sz="2300" dirty="0" err="1"/>
              <a:t>interpolación</a:t>
            </a:r>
            <a:r>
              <a:rPr lang="en-US" sz="2300" dirty="0"/>
              <a:t> lineal </a:t>
            </a:r>
            <a:r>
              <a:rPr lang="en-US" sz="2300" dirty="0" err="1"/>
              <a:t>recursiva</a:t>
            </a:r>
            <a:r>
              <a:rPr lang="en-US" sz="2300" dirty="0"/>
              <a:t>.</a:t>
            </a:r>
            <a:r>
              <a:rPr lang="es-ES_tradnl" sz="23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68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8148D-9CDA-3684-0421-761DAD87E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34" y="742278"/>
            <a:ext cx="11189747" cy="463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6791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277</Words>
  <Application>Microsoft Macintosh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Neue Haas Grotesk Text Pro</vt:lpstr>
      <vt:lpstr>VanillaVTI</vt:lpstr>
      <vt:lpstr>Interpolación</vt:lpstr>
      <vt:lpstr>El problema de la interpolación</vt:lpstr>
      <vt:lpstr>¿Para qué?</vt:lpstr>
      <vt:lpstr>Dos teoremas fundamentales </vt:lpstr>
      <vt:lpstr>Polinomios de Lagrange</vt:lpstr>
      <vt:lpstr>Unicidad y error</vt:lpstr>
      <vt:lpstr>Técnicas de interpolación polinomial </vt:lpstr>
      <vt:lpstr>Cubic splines</vt:lpstr>
      <vt:lpstr>Curvas de Bezier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Manuela Bastidas Olivares</dc:creator>
  <cp:lastModifiedBy>Manuela Bastidas Olivares</cp:lastModifiedBy>
  <cp:revision>6</cp:revision>
  <dcterms:created xsi:type="dcterms:W3CDTF">2026-05-19T23:48:22Z</dcterms:created>
  <dcterms:modified xsi:type="dcterms:W3CDTF">2026-05-22T14:47:22Z</dcterms:modified>
</cp:coreProperties>
</file>