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9" r:id="rId1"/>
  </p:sldMasterIdLst>
  <p:sldIdLst>
    <p:sldId id="256" r:id="rId2"/>
    <p:sldId id="258" r:id="rId3"/>
    <p:sldId id="260" r:id="rId4"/>
    <p:sldId id="257" r:id="rId5"/>
    <p:sldId id="261" r:id="rId6"/>
    <p:sldId id="262" r:id="rId7"/>
  </p:sldIdLst>
  <p:sldSz cx="12192000" cy="6858000"/>
  <p:notesSz cx="6858000" cy="9144000"/>
  <p:defaultTextStyle>
    <a:defPPr>
      <a:defRPr lang="en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511"/>
    <p:restoredTop sz="94668"/>
  </p:normalViewPr>
  <p:slideViewPr>
    <p:cSldViewPr snapToGrid="0">
      <p:cViewPr varScale="1">
        <p:scale>
          <a:sx n="119" d="100"/>
          <a:sy n="119" d="100"/>
        </p:scale>
        <p:origin x="4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713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203592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1047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E448DB1-4196-18A6-15DA-C72635C1B1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_tradnl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31D3EF-4B20-78FE-3897-D933C825E8B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615" b="2594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F15DF8A-891A-1965-E372-1BA1F3B945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507179" y="173179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3000"/>
                </a:schemeClr>
              </a:gs>
              <a:gs pos="26000">
                <a:schemeClr val="bg1">
                  <a:alpha val="20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_tradnl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6B13E1-0E7B-4892-1BA2-A25E50F8AB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07237" y="898373"/>
            <a:ext cx="5036526" cy="3474720"/>
          </a:xfrm>
        </p:spPr>
        <p:txBody>
          <a:bodyPr anchor="b">
            <a:normAutofit/>
          </a:bodyPr>
          <a:lstStyle/>
          <a:p>
            <a:pPr algn="l"/>
            <a:r>
              <a:rPr lang="es-ES_tradnl" sz="5800" noProof="0" dirty="0"/>
              <a:t>Interpolación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433A2C-7F87-E0EE-5B92-C10D7AD023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82646" y="4495012"/>
            <a:ext cx="4116410" cy="1610365"/>
          </a:xfrm>
        </p:spPr>
        <p:txBody>
          <a:bodyPr anchor="t">
            <a:normAutofit/>
          </a:bodyPr>
          <a:lstStyle/>
          <a:p>
            <a:pPr algn="l"/>
            <a:r>
              <a:rPr lang="es-ES_tradnl" sz="2200" noProof="0" dirty="0"/>
              <a:t>Programación científica</a:t>
            </a:r>
          </a:p>
          <a:p>
            <a:pPr algn="l"/>
            <a:r>
              <a:rPr lang="es-ES_tradnl" sz="2200" noProof="0" dirty="0">
                <a:solidFill>
                  <a:srgbClr val="00B0F0"/>
                </a:solidFill>
              </a:rPr>
              <a:t>Manuela Bastidas </a:t>
            </a:r>
          </a:p>
          <a:p>
            <a:pPr algn="l"/>
            <a:r>
              <a:rPr lang="es-ES_tradnl" sz="2200" noProof="0" dirty="0"/>
              <a:t>20 de Mayo 2026</a:t>
            </a:r>
          </a:p>
        </p:txBody>
      </p:sp>
    </p:spTree>
    <p:extLst>
      <p:ext uri="{BB962C8B-B14F-4D97-AF65-F5344CB8AC3E}">
        <p14:creationId xmlns:p14="http://schemas.microsoft.com/office/powerpoint/2010/main" val="13362842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F723AD-CFB9-1A81-06FC-30DCF1177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El problema de la interpolación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1F0EB2-7D4A-7142-C5A0-74AA1F2C7ABB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89915" y="1364792"/>
            <a:ext cx="6078608" cy="133487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s-ES_tradnl" noProof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Tenemos unos puntos y queremos construir una función que pase por esos puntos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B11827A-1DD8-55F2-8B8B-B7EAD6BCF6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555" y="2383556"/>
            <a:ext cx="7728883" cy="4177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81654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1069BF-6269-7EC8-A3FA-483165A71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¿Para qué?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6887C426-DC6E-957D-1543-A5BB3D9DD5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5774" y="1476753"/>
            <a:ext cx="10382250" cy="3244093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_tradnl" sz="2800" b="0" i="0" u="none" strike="noStrike" cap="none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Arial" panose="020B0604020202020204" pitchFamily="34" charset="0"/>
              </a:rPr>
              <a:t> Trazar una curva suave a través de puntos de datos discretos.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_tradnl" sz="2800" b="0" i="0" u="none" strike="noStrike" cap="none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Arial" panose="020B0604020202020204" pitchFamily="34" charset="0"/>
              </a:rPr>
              <a:t> Leer entre líneas de una tabla de datos.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_tradnl" sz="2800" b="0" i="0" u="none" strike="noStrike" cap="none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Arial" panose="020B0604020202020204" pitchFamily="34" charset="0"/>
              </a:rPr>
              <a:t> Derivar o integrar datos tabulares.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_tradnl" sz="2800" b="0" i="0" u="none" strike="noStrike" cap="none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Arial" panose="020B0604020202020204" pitchFamily="34" charset="0"/>
              </a:rPr>
              <a:t> Evaluación rápida y sencilla de una función matemática.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_tradnl" sz="2800" b="0" i="0" u="none" strike="noStrike" cap="none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Arial" panose="020B0604020202020204" pitchFamily="34" charset="0"/>
              </a:rPr>
              <a:t> Reemplazar una función complicada por una simple.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28DC7D0-5F59-6042-5B84-0269786DE320}"/>
              </a:ext>
            </a:extLst>
          </p:cNvPr>
          <p:cNvSpPr txBox="1">
            <a:spLocks/>
          </p:cNvSpPr>
          <p:nvPr/>
        </p:nvSpPr>
        <p:spPr>
          <a:xfrm>
            <a:off x="612648" y="5381247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_tradnl" noProof="0" dirty="0"/>
              <a:t>Idea más básica … </a:t>
            </a:r>
          </a:p>
        </p:txBody>
      </p:sp>
    </p:spTree>
    <p:extLst>
      <p:ext uri="{BB962C8B-B14F-4D97-AF65-F5344CB8AC3E}">
        <p14:creationId xmlns:p14="http://schemas.microsoft.com/office/powerpoint/2010/main" val="2712429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FD497-CDF9-B248-F938-064C07555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Dos teoremas fundamentales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89310-358E-3D9C-E42D-D9A75DC3887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69210" y="1651330"/>
            <a:ext cx="6508914" cy="1713468"/>
          </a:xfr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/>
          <a:lstStyle/>
          <a:p>
            <a:pPr marL="0" indent="0">
              <a:buNone/>
            </a:pPr>
            <a:r>
              <a:rPr lang="es-ES_tradnl" sz="2800" noProof="0" dirty="0">
                <a:solidFill>
                  <a:schemeClr val="accent3"/>
                </a:solidFill>
              </a:rPr>
              <a:t>Teorema fundamental del álgebra: </a:t>
            </a:r>
          </a:p>
          <a:p>
            <a:pPr marL="0" indent="0">
              <a:buNone/>
            </a:pPr>
            <a:r>
              <a:rPr lang="es-ES_tradnl" noProof="0" dirty="0">
                <a:solidFill>
                  <a:schemeClr val="bg1">
                    <a:lumMod val="50000"/>
                  </a:schemeClr>
                </a:solidFill>
              </a:rPr>
              <a:t>Un polinomio de grado n tiene exactamente n raíces (que pueden ser reales o imaginarias).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2022EBD-C0FB-1181-E13C-DC53B741B18C}"/>
              </a:ext>
            </a:extLst>
          </p:cNvPr>
          <p:cNvSpPr txBox="1">
            <a:spLocks/>
          </p:cNvSpPr>
          <p:nvPr/>
        </p:nvSpPr>
        <p:spPr>
          <a:xfrm>
            <a:off x="769210" y="3814168"/>
            <a:ext cx="6508914" cy="22531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_tradnl" sz="2400" noProof="0" dirty="0">
                <a:solidFill>
                  <a:schemeClr val="accent1"/>
                </a:solidFill>
              </a:rPr>
              <a:t>Teorema de aproximación de Weierstrass</a:t>
            </a:r>
            <a:endParaRPr lang="es-ES_tradnl" noProof="0" dirty="0">
              <a:solidFill>
                <a:schemeClr val="accent1"/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br>
              <a:rPr lang="es-ES_tradnl" noProof="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s-ES_tradnl" noProof="0" dirty="0">
                <a:solidFill>
                  <a:schemeClr val="bg1">
                    <a:lumMod val="50000"/>
                  </a:schemeClr>
                </a:solidFill>
              </a:rPr>
              <a:t>Cualquier función continua en un intervalo cerrado y puede ser aproximada uniformemente mediante polinomios</a:t>
            </a:r>
          </a:p>
        </p:txBody>
      </p:sp>
      <p:pic>
        <p:nvPicPr>
          <p:cNvPr id="6" name="Graphic 5" descr="Question Mark with solid fill">
            <a:extLst>
              <a:ext uri="{FF2B5EF4-FFF2-40B4-BE49-F238E27FC236}">
                <a16:creationId xmlns:a16="http://schemas.microsoft.com/office/drawing/2014/main" id="{E2ED4F75-036F-FAB6-050A-53C7752C15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11133" y="1841830"/>
            <a:ext cx="3355093" cy="3355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1786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1DDF10A-E0DA-E469-DCF5-197EDA629C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811" y="345440"/>
            <a:ext cx="10653578" cy="1132258"/>
          </a:xfrm>
        </p:spPr>
        <p:txBody>
          <a:bodyPr/>
          <a:lstStyle/>
          <a:p>
            <a:r>
              <a:rPr lang="es-ES_tradnl" noProof="0" dirty="0"/>
              <a:t>Polinomios de Lagrange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C3C8FD-B681-36BA-D80E-0C562A8C73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00" y="1241769"/>
            <a:ext cx="8458200" cy="5377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53673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7D2FF-7588-B571-4AC5-669E63FF7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Unicidad y error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F13A06-C8BA-1414-F23C-328B7BAF9BF0}"/>
              </a:ext>
            </a:extLst>
          </p:cNvPr>
          <p:cNvSpPr txBox="1"/>
          <p:nvPr/>
        </p:nvSpPr>
        <p:spPr>
          <a:xfrm>
            <a:off x="668937" y="1537480"/>
            <a:ext cx="5270500" cy="15696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s-ES_tradnl" sz="2400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Hay muchas formas de representar o calcular el polinomio interpolador, pero en teoría todas deben dar el mismo resultado.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5EABC8-B0BC-6223-2BBF-BCFFEB02A829}"/>
              </a:ext>
            </a:extLst>
          </p:cNvPr>
          <p:cNvSpPr txBox="1"/>
          <p:nvPr/>
        </p:nvSpPr>
        <p:spPr>
          <a:xfrm>
            <a:off x="1424587" y="4002148"/>
            <a:ext cx="916721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400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https://</a:t>
            </a:r>
            <a:r>
              <a:rPr lang="es-ES_tradnl" sz="1400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docs.scipy.org</a:t>
            </a:r>
            <a:r>
              <a:rPr lang="es-ES_tradnl" sz="1400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s-ES_tradnl" sz="1400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</a:t>
            </a:r>
            <a:r>
              <a:rPr lang="es-ES_tradnl" sz="1400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s-ES_tradnl" sz="1400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scipy</a:t>
            </a:r>
            <a:r>
              <a:rPr lang="es-ES_tradnl" sz="1400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s-ES_tradnl" sz="1400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reference</a:t>
            </a:r>
            <a:r>
              <a:rPr lang="es-ES_tradnl" sz="1400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s-ES_tradnl" sz="1400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generated</a:t>
            </a:r>
            <a:r>
              <a:rPr lang="es-ES_tradnl" sz="1400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s-ES_tradnl" sz="1400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scipy.interpolate.lagrange.html</a:t>
            </a:r>
            <a:endParaRPr lang="es-ES_tradnl" sz="1400" noProof="0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F5841C7-4C49-4882-EE44-1B2DDDFE3FAA}"/>
              </a:ext>
            </a:extLst>
          </p:cNvPr>
          <p:cNvSpPr txBox="1"/>
          <p:nvPr/>
        </p:nvSpPr>
        <p:spPr>
          <a:xfrm>
            <a:off x="1424587" y="4533382"/>
            <a:ext cx="845664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400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https://</a:t>
            </a:r>
            <a:r>
              <a:rPr lang="es-ES_tradnl" sz="1400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numpy.org</a:t>
            </a:r>
            <a:r>
              <a:rPr lang="es-ES_tradnl" sz="1400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s-ES_tradnl" sz="1400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</a:t>
            </a:r>
            <a:r>
              <a:rPr lang="es-ES_tradnl" sz="1400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s-ES_tradnl" sz="1400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stable</a:t>
            </a:r>
            <a:r>
              <a:rPr lang="es-ES_tradnl" sz="1400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s-ES_tradnl" sz="1400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reference</a:t>
            </a:r>
            <a:r>
              <a:rPr lang="es-ES_tradnl" sz="1400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s-ES_tradnl" sz="1400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routines.polynomials-package.html#module-numpy.polynomial</a:t>
            </a:r>
            <a:endParaRPr lang="es-ES_tradnl" sz="1400" noProof="0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254D1D-552A-386F-D39B-CB18EABF8722}"/>
              </a:ext>
            </a:extLst>
          </p:cNvPr>
          <p:cNvSpPr txBox="1"/>
          <p:nvPr/>
        </p:nvSpPr>
        <p:spPr>
          <a:xfrm>
            <a:off x="1424587" y="5341615"/>
            <a:ext cx="9167214" cy="83099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s-ES_tradnl" sz="2400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¿Será posible construir polinomios que no solo coincidan con la función sino con sus derivadas? y ¿dónde es mejor tomar datos?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28218CF-FB16-4ABE-A9C8-3FB438CB55E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347776" y="1422236"/>
            <a:ext cx="5054563" cy="1800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0151024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325</TotalTime>
  <Words>225</Words>
  <Application>Microsoft Macintosh PowerPoint</Application>
  <PresentationFormat>Widescreen</PresentationFormat>
  <Paragraphs>24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Courier New</vt:lpstr>
      <vt:lpstr>Neue Haas Grotesk Text Pro</vt:lpstr>
      <vt:lpstr>VanillaVTI</vt:lpstr>
      <vt:lpstr>Interpolación</vt:lpstr>
      <vt:lpstr>El problema de la interpolación</vt:lpstr>
      <vt:lpstr>¿Para qué?</vt:lpstr>
      <vt:lpstr>Dos teoremas fundamentales </vt:lpstr>
      <vt:lpstr>Polinomios de Lagrange</vt:lpstr>
      <vt:lpstr>Unicidad y error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Manuela Bastidas Olivares</dc:creator>
  <cp:lastModifiedBy>Manuela Bastidas Olivares</cp:lastModifiedBy>
  <cp:revision>2</cp:revision>
  <dcterms:created xsi:type="dcterms:W3CDTF">2026-05-19T23:48:22Z</dcterms:created>
  <dcterms:modified xsi:type="dcterms:W3CDTF">2026-05-20T14:22:59Z</dcterms:modified>
</cp:coreProperties>
</file>