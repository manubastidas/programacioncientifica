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19"/>
  </p:notesMasterIdLst>
  <p:sldIdLst>
    <p:sldId id="256" r:id="rId2"/>
    <p:sldId id="257" r:id="rId3"/>
    <p:sldId id="266" r:id="rId4"/>
    <p:sldId id="259" r:id="rId5"/>
    <p:sldId id="269" r:id="rId6"/>
    <p:sldId id="261" r:id="rId7"/>
    <p:sldId id="262" r:id="rId8"/>
    <p:sldId id="275" r:id="rId9"/>
    <p:sldId id="276" r:id="rId10"/>
    <p:sldId id="277" r:id="rId11"/>
    <p:sldId id="278" r:id="rId12"/>
    <p:sldId id="270" r:id="rId13"/>
    <p:sldId id="267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764"/>
  </p:normalViewPr>
  <p:slideViewPr>
    <p:cSldViewPr snapToGrid="0">
      <p:cViewPr varScale="1">
        <p:scale>
          <a:sx n="96" d="100"/>
          <a:sy n="96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6992E-62F6-C847-AEE7-9E7267CDCE7A}" type="datetimeFigureOut">
              <a:rPr lang="es-ES_tradnl" smtClean="0"/>
              <a:t>6/5/26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9429A-79C4-2D45-983A-A832E80D7F79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2707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9429A-79C4-2D45-983A-A832E80D7F79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98140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8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2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66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9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5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6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2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9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35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75C575-A6AE-B29A-B2A9-73266AAFA0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29" b="8401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8723C-89EF-45BE-4978-40466B231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s-ES_tradnl" dirty="0">
                <a:solidFill>
                  <a:srgbClr val="FFFFFF"/>
                </a:solidFill>
              </a:rPr>
              <a:t>Visualización</a:t>
            </a:r>
            <a:br>
              <a:rPr lang="es-ES_tradnl" dirty="0">
                <a:solidFill>
                  <a:srgbClr val="FFFFFF"/>
                </a:solidFill>
              </a:rPr>
            </a:br>
            <a:r>
              <a:rPr lang="es-ES_tradnl" dirty="0">
                <a:solidFill>
                  <a:srgbClr val="FFFFFF"/>
                </a:solidFill>
              </a:rPr>
              <a:t>CIENTÍFICA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01B61-F498-2842-1719-3FABA91CF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s-ES_tradnl" dirty="0">
                <a:solidFill>
                  <a:srgbClr val="FFFFFF"/>
                </a:solidFill>
              </a:rPr>
              <a:t>Clase #2</a:t>
            </a:r>
          </a:p>
          <a:p>
            <a:r>
              <a:rPr lang="es-ES_tradnl" dirty="0">
                <a:solidFill>
                  <a:srgbClr val="FFFFFF"/>
                </a:solidFill>
              </a:rPr>
              <a:t>Manuela Bastidas</a:t>
            </a:r>
          </a:p>
          <a:p>
            <a:r>
              <a:rPr lang="es-ES_tradnl" dirty="0">
                <a:solidFill>
                  <a:srgbClr val="FFFFFF"/>
                </a:solidFill>
              </a:rPr>
              <a:t>6 mayo/2026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616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3622D-7D7F-3DD8-E436-D5DD48460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09919"/>
            <a:ext cx="6085303" cy="12952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_tradnl" sz="6600" dirty="0">
                <a:solidFill>
                  <a:schemeClr val="tx2">
                    <a:lumMod val="90000"/>
                  </a:schemeClr>
                </a:solidFill>
              </a:rPr>
              <a:t>Visualización</a:t>
            </a:r>
            <a:r>
              <a:rPr lang="es-ES_tradnl" sz="6600" dirty="0"/>
              <a:t>: 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F902DFE-E459-03F9-D84B-5621B48564A3}"/>
              </a:ext>
            </a:extLst>
          </p:cNvPr>
          <p:cNvSpPr txBox="1"/>
          <p:nvPr/>
        </p:nvSpPr>
        <p:spPr>
          <a:xfrm>
            <a:off x="1206873" y="2551838"/>
            <a:ext cx="9778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Herramienta para comunicar información de forma gráfica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E14EC-69E2-E39C-90AF-00B8C58F9EE5}"/>
              </a:ext>
            </a:extLst>
          </p:cNvPr>
          <p:cNvSpPr txBox="1"/>
          <p:nvPr/>
        </p:nvSpPr>
        <p:spPr>
          <a:xfrm>
            <a:off x="800100" y="3837238"/>
            <a:ext cx="4849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noProof="0" dirty="0">
                <a:latin typeface="Calibri Light" panose="020F0302020204030204" pitchFamily="34" charset="0"/>
                <a:cs typeface="Calibri Light" panose="020F0302020204030204" pitchFamily="34" charset="0"/>
              </a:rPr>
              <a:t>Los datos sin descripción no nos dicen nada: </a:t>
            </a:r>
            <a:r>
              <a:rPr lang="es-ES_tradnl" sz="2400" b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Entender qué vamos a graficar nos ayuda a comunicar mejor.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2FCBB-B334-D6CA-C88E-A4B0340D93FB}"/>
              </a:ext>
            </a:extLst>
          </p:cNvPr>
          <p:cNvSpPr txBox="1"/>
          <p:nvPr/>
        </p:nvSpPr>
        <p:spPr>
          <a:xfrm>
            <a:off x="6449884" y="3837238"/>
            <a:ext cx="4535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noProof="0" dirty="0">
                <a:latin typeface="Calibri Light" panose="020F0302020204030204" pitchFamily="34" charset="0"/>
                <a:cs typeface="Calibri Light" panose="020F0302020204030204" pitchFamily="34" charset="0"/>
              </a:rPr>
              <a:t>La descripción de los datos no nos dice nada; </a:t>
            </a:r>
            <a:r>
              <a:rPr lang="es-ES_tradnl" sz="2400" b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las gráficas nos ayudan a entenderlos.</a:t>
            </a:r>
          </a:p>
        </p:txBody>
      </p:sp>
    </p:spTree>
    <p:extLst>
      <p:ext uri="{BB962C8B-B14F-4D97-AF65-F5344CB8AC3E}">
        <p14:creationId xmlns:p14="http://schemas.microsoft.com/office/powerpoint/2010/main" val="1429699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4A284-F411-1491-25BB-94DABA976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E056FB1-20FE-7BC2-55EB-CCF363850AF2}"/>
              </a:ext>
            </a:extLst>
          </p:cNvPr>
          <p:cNvCxnSpPr/>
          <p:nvPr/>
        </p:nvCxnSpPr>
        <p:spPr>
          <a:xfrm>
            <a:off x="754533" y="614855"/>
            <a:ext cx="10407453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0ECA75-EF08-3E60-7CDE-8798E499FFE2}"/>
              </a:ext>
            </a:extLst>
          </p:cNvPr>
          <p:cNvCxnSpPr/>
          <p:nvPr/>
        </p:nvCxnSpPr>
        <p:spPr>
          <a:xfrm>
            <a:off x="754533" y="6229295"/>
            <a:ext cx="10407453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19BC0A-AB22-2AD0-2C5A-C067ED5D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09919"/>
            <a:ext cx="9464362" cy="129523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_tradnl" sz="5400" dirty="0">
                <a:solidFill>
                  <a:schemeClr val="tx2">
                    <a:lumMod val="90000"/>
                  </a:schemeClr>
                </a:solidFill>
              </a:rPr>
              <a:t>Visualización científica</a:t>
            </a:r>
            <a:r>
              <a:rPr lang="es-ES_tradnl" sz="5400" dirty="0"/>
              <a:t>: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08ED16-8EC6-4CB7-0AC4-0CA1E99287F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05435" y="2557463"/>
            <a:ext cx="9558271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CO" altLang="en-CO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nivers Condensed Light" panose="020B0506020202050204" pitchFamily="34" charset="0"/>
                <a:cs typeface="Calibri Light" panose="020F0302020204030204" pitchFamily="34" charset="0"/>
              </a:rPr>
              <a:t>Transformación de datos </a:t>
            </a:r>
            <a:r>
              <a:rPr lang="en-CO" altLang="en-CO" sz="2800" dirty="0">
                <a:highlight>
                  <a:srgbClr val="C0C0C0"/>
                </a:highlight>
                <a:latin typeface="Univers Condensed Light" panose="020B0506020202050204" pitchFamily="34" charset="0"/>
                <a:cs typeface="Calibri Light" panose="020F0302020204030204" pitchFamily="34" charset="0"/>
              </a:rPr>
              <a:t>que tienen una física inherente</a:t>
            </a:r>
            <a:r>
              <a:rPr kumimoji="0" lang="en-CO" altLang="en-CO" sz="2800" u="none" strike="noStrike" cap="none" normalizeH="0" baseline="0" dirty="0">
                <a:ln>
                  <a:noFill/>
                </a:ln>
                <a:effectLst/>
                <a:highlight>
                  <a:srgbClr val="C0C0C0"/>
                </a:highlight>
                <a:latin typeface="Univers Condensed Light" panose="020B0506020202050204" pitchFamily="34" charset="0"/>
                <a:cs typeface="Calibri Light" panose="020F0302020204030204" pitchFamily="34" charset="0"/>
              </a:rPr>
              <a:t> </a:t>
            </a:r>
            <a:r>
              <a:rPr kumimoji="0" lang="en-CO" altLang="en-CO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nivers Condensed Light" panose="020B0506020202050204" pitchFamily="34" charset="0"/>
                <a:cs typeface="Calibri Light" panose="020F0302020204030204" pitchFamily="34" charset="0"/>
              </a:rPr>
              <a:t>en representaciones </a:t>
            </a:r>
            <a:r>
              <a:rPr kumimoji="0" lang="en-CO" altLang="en-CO" sz="280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nivers Condensed Light" panose="020B0506020202050204" pitchFamily="34" charset="0"/>
                <a:cs typeface="Calibri Light" panose="020F0302020204030204" pitchFamily="34" charset="0"/>
              </a:rPr>
              <a:t>visuales</a:t>
            </a:r>
            <a:r>
              <a:rPr kumimoji="0" lang="en-CO" altLang="en-CO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nivers Condensed Light" panose="020B0506020202050204" pitchFamily="34" charset="0"/>
                <a:cs typeface="Calibri Light" panose="020F0302020204030204" pitchFamily="34" charset="0"/>
              </a:rPr>
              <a:t> que respetan una </a:t>
            </a:r>
            <a:r>
              <a:rPr kumimoji="0" lang="en-CO" altLang="en-CO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latin typeface="Univers Condensed Light" panose="020B0506020202050204" pitchFamily="34" charset="0"/>
                <a:cs typeface="Calibri Light" panose="020F0302020204030204" pitchFamily="34" charset="0"/>
              </a:rPr>
              <a:t>estructura espacial</a:t>
            </a:r>
            <a:r>
              <a:rPr kumimoji="0" lang="en-CO" altLang="en-CO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nivers Condensed Light" panose="020B0506020202050204" pitchFamily="34" charset="0"/>
                <a:cs typeface="Calibri Light" panose="020F030202020403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CO" altLang="en-CO" sz="28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CO" altLang="en-CO" sz="28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Visualización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 de Datos (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DataVis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): </a:t>
            </a:r>
            <a:r>
              <a:rPr lang="en-US" sz="28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Se </a:t>
            </a:r>
            <a:r>
              <a:rPr lang="en-US" sz="28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enfoca</a:t>
            </a:r>
            <a:r>
              <a:rPr lang="en-US" sz="28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 </a:t>
            </a:r>
            <a:r>
              <a:rPr lang="en-US" sz="28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en</a:t>
            </a:r>
            <a:r>
              <a:rPr lang="en-US" sz="28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 </a:t>
            </a:r>
            <a:r>
              <a:rPr lang="en-US" sz="28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datos</a:t>
            </a:r>
            <a:r>
              <a:rPr lang="en-US" sz="28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 </a:t>
            </a:r>
            <a:r>
              <a:rPr lang="en-US" sz="2800" u="sng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abstractos</a:t>
            </a:r>
            <a:r>
              <a:rPr lang="en-US" sz="28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 </a:t>
            </a:r>
            <a:r>
              <a:rPr lang="en-US" sz="28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que</a:t>
            </a:r>
            <a:r>
              <a:rPr lang="en-US" sz="28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 no </a:t>
            </a:r>
            <a:r>
              <a:rPr lang="en-US" sz="28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tienen</a:t>
            </a:r>
            <a:r>
              <a:rPr lang="en-US" sz="28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 </a:t>
            </a:r>
            <a:r>
              <a:rPr lang="en-US" sz="28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una</a:t>
            </a:r>
            <a:r>
              <a:rPr lang="en-US" sz="28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 forma </a:t>
            </a:r>
            <a:r>
              <a:rPr lang="en-US" sz="28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física</a:t>
            </a:r>
            <a:r>
              <a:rPr lang="en-US" sz="28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 natural.</a:t>
            </a:r>
            <a:endParaRPr lang="en-CO" altLang="en-CO" sz="28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O" altLang="en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0717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42ED4-6E81-BC39-CF15-5DB4AFAB5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F148AF-154D-9894-8C57-54B15842EF43}"/>
              </a:ext>
            </a:extLst>
          </p:cNvPr>
          <p:cNvSpPr txBox="1"/>
          <p:nvPr/>
        </p:nvSpPr>
        <p:spPr>
          <a:xfrm>
            <a:off x="782110" y="2792435"/>
            <a:ext cx="3999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6000" b="1" noProof="0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Exploratoria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B3918-85C9-5BC4-3029-154CEA3F10E4}"/>
              </a:ext>
            </a:extLst>
          </p:cNvPr>
          <p:cNvSpPr txBox="1"/>
          <p:nvPr/>
        </p:nvSpPr>
        <p:spPr>
          <a:xfrm>
            <a:off x="6371668" y="2792435"/>
            <a:ext cx="4286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6000" b="1" noProof="0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Explicativa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EE40CE-D455-E17F-B991-B61AC90948FB}"/>
              </a:ext>
            </a:extLst>
          </p:cNvPr>
          <p:cNvSpPr txBox="1"/>
          <p:nvPr/>
        </p:nvSpPr>
        <p:spPr>
          <a:xfrm>
            <a:off x="782110" y="3909317"/>
            <a:ext cx="5038223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Es fundamental en ciencia.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Ayuda a entender los fenómenos.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Los datos provienen de experimentos.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4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87508C-8C33-4EA0-87DD-E7EFBC9A0343}"/>
              </a:ext>
            </a:extLst>
          </p:cNvPr>
          <p:cNvSpPr txBox="1"/>
          <p:nvPr/>
        </p:nvSpPr>
        <p:spPr>
          <a:xfrm>
            <a:off x="6371668" y="3909317"/>
            <a:ext cx="5038224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Se centra en la comunicación y presentar resultados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Contexto: </a:t>
            </a:r>
            <a:r>
              <a:rPr lang="es-ES_tradnl" sz="24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Papers</a:t>
            </a: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, conferencias.</a:t>
            </a:r>
          </a:p>
          <a:p>
            <a:endParaRPr lang="es-ES_tradnl" sz="24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BFD718A-DE30-EDB6-933A-0896561A1C71}"/>
              </a:ext>
            </a:extLst>
          </p:cNvPr>
          <p:cNvSpPr txBox="1">
            <a:spLocks/>
          </p:cNvSpPr>
          <p:nvPr/>
        </p:nvSpPr>
        <p:spPr>
          <a:xfrm>
            <a:off x="800100" y="909919"/>
            <a:ext cx="9464362" cy="12952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5400">
                <a:solidFill>
                  <a:schemeClr val="tx2">
                    <a:lumMod val="90000"/>
                  </a:schemeClr>
                </a:solidFill>
              </a:rPr>
              <a:t>Visualización científica</a:t>
            </a:r>
            <a:r>
              <a:rPr lang="es-ES_tradnl" sz="5400"/>
              <a:t>: </a:t>
            </a:r>
            <a:endParaRPr lang="es-ES_tradnl" sz="5400" dirty="0"/>
          </a:p>
        </p:txBody>
      </p:sp>
    </p:spTree>
    <p:extLst>
      <p:ext uri="{BB962C8B-B14F-4D97-AF65-F5344CB8AC3E}">
        <p14:creationId xmlns:p14="http://schemas.microsoft.com/office/powerpoint/2010/main" val="765093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99E8-79E2-C1F3-BDC6-25EF0268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A9BB24-513E-624B-BBC5-1D3467BDB9C3}"/>
              </a:ext>
            </a:extLst>
          </p:cNvPr>
          <p:cNvSpPr txBox="1"/>
          <p:nvPr/>
        </p:nvSpPr>
        <p:spPr>
          <a:xfrm>
            <a:off x="782110" y="2792435"/>
            <a:ext cx="3999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6000" b="1" noProof="0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Exploratoria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5461B-E1F3-7270-0712-AE25E637107B}"/>
              </a:ext>
            </a:extLst>
          </p:cNvPr>
          <p:cNvSpPr txBox="1"/>
          <p:nvPr/>
        </p:nvSpPr>
        <p:spPr>
          <a:xfrm>
            <a:off x="6371668" y="2792435"/>
            <a:ext cx="4286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6000" b="1" noProof="0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Explicativa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FB725-E68F-41DF-A616-5A8BBE1C536D}"/>
              </a:ext>
            </a:extLst>
          </p:cNvPr>
          <p:cNvSpPr txBox="1"/>
          <p:nvPr/>
        </p:nvSpPr>
        <p:spPr>
          <a:xfrm>
            <a:off x="782110" y="3909317"/>
            <a:ext cx="5038223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Es fundamental en ciencia.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Ayuda a entender los fenómenos.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Los datos provienen de experimentos.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4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DCE2A-E427-1076-64FE-9BA569C6E794}"/>
              </a:ext>
            </a:extLst>
          </p:cNvPr>
          <p:cNvSpPr txBox="1"/>
          <p:nvPr/>
        </p:nvSpPr>
        <p:spPr>
          <a:xfrm>
            <a:off x="6371668" y="3909317"/>
            <a:ext cx="5038224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Se centra en la comunicación y presentar resultados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Contexto: </a:t>
            </a:r>
            <a:r>
              <a:rPr lang="es-ES_tradnl" sz="24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Papers</a:t>
            </a: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, conferencias.</a:t>
            </a:r>
          </a:p>
          <a:p>
            <a:endParaRPr lang="es-ES_tradnl" sz="24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F826DC6-4164-AFC0-972C-28732CC58E43}"/>
              </a:ext>
            </a:extLst>
          </p:cNvPr>
          <p:cNvSpPr txBox="1">
            <a:spLocks/>
          </p:cNvSpPr>
          <p:nvPr/>
        </p:nvSpPr>
        <p:spPr>
          <a:xfrm>
            <a:off x="800100" y="909919"/>
            <a:ext cx="9464362" cy="12952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5400">
                <a:solidFill>
                  <a:schemeClr val="tx2">
                    <a:lumMod val="90000"/>
                  </a:schemeClr>
                </a:solidFill>
              </a:rPr>
              <a:t>Visualización científica</a:t>
            </a:r>
            <a:r>
              <a:rPr lang="es-ES_tradnl" sz="5400"/>
              <a:t>: </a:t>
            </a:r>
            <a:endParaRPr lang="es-ES_tradnl" sz="5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137F40-32AE-F505-F872-2DEB61078C23}"/>
              </a:ext>
            </a:extLst>
          </p:cNvPr>
          <p:cNvSpPr/>
          <p:nvPr/>
        </p:nvSpPr>
        <p:spPr>
          <a:xfrm>
            <a:off x="6194738" y="2792435"/>
            <a:ext cx="5409127" cy="282275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1975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6">
            <a:extLst>
              <a:ext uri="{FF2B5EF4-FFF2-40B4-BE49-F238E27FC236}">
                <a16:creationId xmlns:a16="http://schemas.microsoft.com/office/drawing/2014/main" id="{F447D874-19F0-DA39-EBF4-68A8F1059F4D}"/>
              </a:ext>
            </a:extLst>
          </p:cNvPr>
          <p:cNvSpPr/>
          <p:nvPr/>
        </p:nvSpPr>
        <p:spPr>
          <a:xfrm>
            <a:off x="776343" y="461234"/>
            <a:ext cx="8810513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Tipos de </a:t>
            </a:r>
            <a:r>
              <a:rPr lang="en-US" sz="6000" dirty="0" err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60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5C550C0B-9AE8-5F24-3B52-BD88EE6DDC53}"/>
              </a:ext>
            </a:extLst>
          </p:cNvPr>
          <p:cNvSpPr/>
          <p:nvPr/>
        </p:nvSpPr>
        <p:spPr>
          <a:xfrm>
            <a:off x="776343" y="2705548"/>
            <a:ext cx="8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4A3B8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¿De dónde vienen? ¿Cómo se representan?</a:t>
            </a:r>
            <a:endParaRPr lang="en-US" sz="4000" b="1" dirty="0">
              <a:latin typeface="Univers Condensed Light" panose="020B050602020205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74035C-47AF-EA57-E5EF-96D58530D29B}"/>
              </a:ext>
            </a:extLst>
          </p:cNvPr>
          <p:cNvGrpSpPr/>
          <p:nvPr/>
        </p:nvGrpSpPr>
        <p:grpSpPr>
          <a:xfrm>
            <a:off x="776343" y="3649533"/>
            <a:ext cx="10639313" cy="2146151"/>
            <a:chOff x="548640" y="3017520"/>
            <a:chExt cx="7955280" cy="877824"/>
          </a:xfrm>
        </p:grpSpPr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9FE652BF-F89D-3268-3B8C-726FF6523062}"/>
                </a:ext>
              </a:extLst>
            </p:cNvPr>
            <p:cNvSpPr/>
            <p:nvPr/>
          </p:nvSpPr>
          <p:spPr>
            <a:xfrm>
              <a:off x="548640" y="3017520"/>
              <a:ext cx="2468880" cy="347472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sz="2400">
                <a:latin typeface="Univers Condensed Light" panose="020B0506020202050204" pitchFamily="34" charset="0"/>
              </a:endParaRPr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14FF63F3-EA01-891B-4316-767F8D60CAF6}"/>
                </a:ext>
              </a:extLst>
            </p:cNvPr>
            <p:cNvSpPr/>
            <p:nvPr/>
          </p:nvSpPr>
          <p:spPr>
            <a:xfrm>
              <a:off x="548640" y="3017520"/>
              <a:ext cx="24688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FFFFF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Funciones analíticas</a:t>
              </a:r>
              <a:endParaRPr lang="en-US" sz="24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B23C80A1-0845-0945-AB4C-077F4B03E5DE}"/>
                </a:ext>
              </a:extLst>
            </p:cNvPr>
            <p:cNvSpPr/>
            <p:nvPr/>
          </p:nvSpPr>
          <p:spPr>
            <a:xfrm>
              <a:off x="3291840" y="3017520"/>
              <a:ext cx="2468880" cy="347472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sz="2400">
                <a:latin typeface="Univers Condensed Light" panose="020B0506020202050204" pitchFamily="34" charset="0"/>
              </a:endParaRPr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08CF6C79-3F6B-F65C-9995-E7FACE7F0214}"/>
                </a:ext>
              </a:extLst>
            </p:cNvPr>
            <p:cNvSpPr/>
            <p:nvPr/>
          </p:nvSpPr>
          <p:spPr>
            <a:xfrm>
              <a:off x="3291840" y="3017520"/>
              <a:ext cx="24688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FFFFF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Medición / sensores</a:t>
              </a:r>
              <a:endParaRPr lang="en-US" sz="24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27859BD5-231C-F227-C00B-5F7B59FE9DBD}"/>
                </a:ext>
              </a:extLst>
            </p:cNvPr>
            <p:cNvSpPr/>
            <p:nvPr/>
          </p:nvSpPr>
          <p:spPr>
            <a:xfrm>
              <a:off x="6035040" y="3017520"/>
              <a:ext cx="2468880" cy="347472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sz="2400">
                <a:latin typeface="Univers Condensed Light" panose="020B0506020202050204" pitchFamily="34" charset="0"/>
              </a:endParaRPr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7CA68D0D-33ED-A435-1548-19935A6FC4F2}"/>
                </a:ext>
              </a:extLst>
            </p:cNvPr>
            <p:cNvSpPr/>
            <p:nvPr/>
          </p:nvSpPr>
          <p:spPr>
            <a:xfrm>
              <a:off x="6035040" y="3017520"/>
              <a:ext cx="24688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FFFFF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Simulaciones PDE</a:t>
              </a:r>
              <a:endParaRPr lang="en-US" sz="24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2" name="Shape 14">
              <a:extLst>
                <a:ext uri="{FF2B5EF4-FFF2-40B4-BE49-F238E27FC236}">
                  <a16:creationId xmlns:a16="http://schemas.microsoft.com/office/drawing/2014/main" id="{845D5DEF-B7D6-66FC-D846-5834AF44A7A2}"/>
                </a:ext>
              </a:extLst>
            </p:cNvPr>
            <p:cNvSpPr/>
            <p:nvPr/>
          </p:nvSpPr>
          <p:spPr>
            <a:xfrm>
              <a:off x="548640" y="3547872"/>
              <a:ext cx="2468880" cy="347472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sz="2400">
                <a:latin typeface="Univers Condensed Light" panose="020B0506020202050204" pitchFamily="34" charset="0"/>
              </a:endParaRPr>
            </a:p>
          </p:txBody>
        </p:sp>
        <p:sp>
          <p:nvSpPr>
            <p:cNvPr id="13" name="Text 15">
              <a:extLst>
                <a:ext uri="{FF2B5EF4-FFF2-40B4-BE49-F238E27FC236}">
                  <a16:creationId xmlns:a16="http://schemas.microsoft.com/office/drawing/2014/main" id="{E23CC8D9-AF3B-1E65-E77F-FC2848E24F09}"/>
                </a:ext>
              </a:extLst>
            </p:cNvPr>
            <p:cNvSpPr/>
            <p:nvPr/>
          </p:nvSpPr>
          <p:spPr>
            <a:xfrm>
              <a:off x="548640" y="3547872"/>
              <a:ext cx="24688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FFFFF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Imágenes digitales</a:t>
              </a:r>
              <a:endParaRPr lang="en-US" sz="24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4" name="Shape 16">
              <a:extLst>
                <a:ext uri="{FF2B5EF4-FFF2-40B4-BE49-F238E27FC236}">
                  <a16:creationId xmlns:a16="http://schemas.microsoft.com/office/drawing/2014/main" id="{361E7552-95DB-6373-719E-1996200A1B86}"/>
                </a:ext>
              </a:extLst>
            </p:cNvPr>
            <p:cNvSpPr/>
            <p:nvPr/>
          </p:nvSpPr>
          <p:spPr>
            <a:xfrm>
              <a:off x="3291840" y="3547872"/>
              <a:ext cx="2468880" cy="347472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sz="2400">
                <a:latin typeface="Univers Condensed Light" panose="020B0506020202050204" pitchFamily="34" charset="0"/>
              </a:endParaRPr>
            </a:p>
          </p:txBody>
        </p:sp>
        <p:sp>
          <p:nvSpPr>
            <p:cNvPr id="15" name="Text 17">
              <a:extLst>
                <a:ext uri="{FF2B5EF4-FFF2-40B4-BE49-F238E27FC236}">
                  <a16:creationId xmlns:a16="http://schemas.microsoft.com/office/drawing/2014/main" id="{A0B26916-5825-F309-CDB7-F644283A97C5}"/>
                </a:ext>
              </a:extLst>
            </p:cNvPr>
            <p:cNvSpPr/>
            <p:nvPr/>
          </p:nvSpPr>
          <p:spPr>
            <a:xfrm>
              <a:off x="3291840" y="3547872"/>
              <a:ext cx="24688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FFFFF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Datos geoespaciales</a:t>
              </a:r>
              <a:endParaRPr lang="en-US" sz="24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F4C35F44-7FE4-CCA9-4D82-58192DB4AE16}"/>
                </a:ext>
              </a:extLst>
            </p:cNvPr>
            <p:cNvSpPr/>
            <p:nvPr/>
          </p:nvSpPr>
          <p:spPr>
            <a:xfrm>
              <a:off x="6035040" y="3547872"/>
              <a:ext cx="2468880" cy="347472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 sz="2400">
                <a:latin typeface="Univers Condensed Light" panose="020B0506020202050204" pitchFamily="34" charset="0"/>
              </a:endParaRPr>
            </a:p>
          </p:txBody>
        </p:sp>
        <p:sp>
          <p:nvSpPr>
            <p:cNvPr id="17" name="Text 19">
              <a:extLst>
                <a:ext uri="{FF2B5EF4-FFF2-40B4-BE49-F238E27FC236}">
                  <a16:creationId xmlns:a16="http://schemas.microsoft.com/office/drawing/2014/main" id="{EDC0FCF9-CBB7-2FA9-569E-D5BB592DA3DC}"/>
                </a:ext>
              </a:extLst>
            </p:cNvPr>
            <p:cNvSpPr/>
            <p:nvPr/>
          </p:nvSpPr>
          <p:spPr>
            <a:xfrm>
              <a:off x="6035040" y="3547872"/>
              <a:ext cx="24688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FFFFF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Datos experimentales</a:t>
              </a:r>
              <a:endParaRPr lang="en-US" sz="2400" dirty="0">
                <a:latin typeface="Univers Condensed Light" panose="020B0506020202050204" pitchFamily="34" charset="0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9CFBAD-E61D-F992-23AC-D5DE565EF54C}"/>
              </a:ext>
            </a:extLst>
          </p:cNvPr>
          <p:cNvCxnSpPr>
            <a:cxnSpLocks/>
          </p:cNvCxnSpPr>
          <p:nvPr/>
        </p:nvCxnSpPr>
        <p:spPr>
          <a:xfrm>
            <a:off x="754533" y="808038"/>
            <a:ext cx="10772059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1A6ADA-7DCD-83B4-F74F-81A89E5DF151}"/>
              </a:ext>
            </a:extLst>
          </p:cNvPr>
          <p:cNvCxnSpPr>
            <a:cxnSpLocks/>
          </p:cNvCxnSpPr>
          <p:nvPr/>
        </p:nvCxnSpPr>
        <p:spPr>
          <a:xfrm>
            <a:off x="754533" y="6253651"/>
            <a:ext cx="10661123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40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2">
            <a:extLst>
              <a:ext uri="{FF2B5EF4-FFF2-40B4-BE49-F238E27FC236}">
                <a16:creationId xmlns:a16="http://schemas.microsoft.com/office/drawing/2014/main" id="{915EA7E0-519C-DFE5-6964-0299EB2F021E}"/>
              </a:ext>
            </a:extLst>
          </p:cNvPr>
          <p:cNvSpPr/>
          <p:nvPr/>
        </p:nvSpPr>
        <p:spPr>
          <a:xfrm>
            <a:off x="754533" y="1174716"/>
            <a:ext cx="903492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 err="1">
                <a:solidFill>
                  <a:schemeClr val="bg2"/>
                </a:solidFill>
                <a:latin typeface="+mj-lt"/>
                <a:ea typeface="Calibri" pitchFamily="34" charset="-122"/>
                <a:cs typeface="Calibri" pitchFamily="34" charset="-120"/>
              </a:rPr>
              <a:t>Tipos</a:t>
            </a:r>
            <a:r>
              <a:rPr lang="en-US" sz="4800" dirty="0">
                <a:solidFill>
                  <a:schemeClr val="bg2"/>
                </a:solidFill>
                <a:latin typeface="+mj-lt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4800" dirty="0" err="1">
                <a:solidFill>
                  <a:schemeClr val="bg2"/>
                </a:solidFill>
                <a:latin typeface="+mj-lt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4800" dirty="0">
                <a:solidFill>
                  <a:schemeClr val="bg2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Por dimension del </a:t>
            </a:r>
            <a:r>
              <a:rPr lang="en-US" sz="32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dominio</a:t>
            </a:r>
            <a:endParaRPr lang="en-US" sz="4800" dirty="0">
              <a:solidFill>
                <a:schemeClr val="accent5">
                  <a:lumMod val="60000"/>
                  <a:lumOff val="40000"/>
                </a:schemeClr>
              </a:solidFill>
              <a:latin typeface="+mj-l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706DE9-A8BE-E7E5-D1D2-59A018735464}"/>
              </a:ext>
            </a:extLst>
          </p:cNvPr>
          <p:cNvGrpSpPr/>
          <p:nvPr/>
        </p:nvGrpSpPr>
        <p:grpSpPr>
          <a:xfrm>
            <a:off x="1797086" y="2199412"/>
            <a:ext cx="8454497" cy="3647596"/>
            <a:chOff x="1791149" y="2438759"/>
            <a:chExt cx="5256295" cy="2872994"/>
          </a:xfrm>
        </p:grpSpPr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2FC9952E-0ECF-FDD5-602D-082B27E1489C}"/>
                </a:ext>
              </a:extLst>
            </p:cNvPr>
            <p:cNvSpPr/>
            <p:nvPr/>
          </p:nvSpPr>
          <p:spPr>
            <a:xfrm>
              <a:off x="1791149" y="2438759"/>
              <a:ext cx="548640" cy="621792"/>
            </a:xfrm>
            <a:prstGeom prst="rect">
              <a:avLst/>
            </a:prstGeom>
            <a:solidFill>
              <a:srgbClr val="EEF2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solidFill>
                  <a:schemeClr val="bg2"/>
                </a:solidFill>
                <a:latin typeface="Univers Condensed Light" panose="020B0506020202050204" pitchFamily="34" charset="0"/>
              </a:endParaRPr>
            </a:p>
          </p:txBody>
        </p:sp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C9773A0D-E54D-493F-242B-BD3D873A587F}"/>
                </a:ext>
              </a:extLst>
            </p:cNvPr>
            <p:cNvSpPr/>
            <p:nvPr/>
          </p:nvSpPr>
          <p:spPr>
            <a:xfrm>
              <a:off x="1791149" y="2438759"/>
              <a:ext cx="54864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1D</a:t>
              </a:r>
              <a:endParaRPr lang="en-US" sz="40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C478F57F-27EE-ABFB-521D-596F5C9FF25F}"/>
                </a:ext>
              </a:extLst>
            </p:cNvPr>
            <p:cNvSpPr/>
            <p:nvPr/>
          </p:nvSpPr>
          <p:spPr>
            <a:xfrm>
              <a:off x="2476948" y="2548487"/>
              <a:ext cx="3988397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series de tiempo, perfiles de temperatura</a:t>
              </a:r>
              <a:endParaRPr lang="en-US" sz="2800" dirty="0">
                <a:solidFill>
                  <a:schemeClr val="bg2"/>
                </a:solidFill>
                <a:latin typeface="Univers Condensed Light" panose="020B0506020202050204" pitchFamily="34" charset="0"/>
              </a:endParaRPr>
            </a:p>
          </p:txBody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58F7761D-0E41-D367-4711-A503B6DC31B3}"/>
                </a:ext>
              </a:extLst>
            </p:cNvPr>
            <p:cNvSpPr/>
            <p:nvPr/>
          </p:nvSpPr>
          <p:spPr>
            <a:xfrm>
              <a:off x="1791149" y="3198074"/>
              <a:ext cx="548640" cy="621792"/>
            </a:xfrm>
            <a:prstGeom prst="rect">
              <a:avLst/>
            </a:prstGeom>
            <a:solidFill>
              <a:srgbClr val="E0F2FE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solidFill>
                  <a:schemeClr val="bg2"/>
                </a:solidFill>
                <a:latin typeface="Univers Condensed Light" panose="020B0506020202050204" pitchFamily="34" charset="0"/>
              </a:endParaRPr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1C519E51-DEE9-5F30-2522-161BD917D01A}"/>
                </a:ext>
              </a:extLst>
            </p:cNvPr>
            <p:cNvSpPr/>
            <p:nvPr/>
          </p:nvSpPr>
          <p:spPr>
            <a:xfrm>
              <a:off x="1791149" y="3185924"/>
              <a:ext cx="54864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2D</a:t>
              </a:r>
              <a:endParaRPr lang="en-US" sz="40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78B1E5FF-3C1A-7747-382E-6C3ACD8B1BFE}"/>
                </a:ext>
              </a:extLst>
            </p:cNvPr>
            <p:cNvSpPr/>
            <p:nvPr/>
          </p:nvSpPr>
          <p:spPr>
            <a:xfrm>
              <a:off x="2476948" y="3307804"/>
              <a:ext cx="4570496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campos </a:t>
              </a:r>
              <a:r>
                <a:rPr lang="en-US" sz="2800" dirty="0" err="1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escalares</a:t>
              </a:r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/</a:t>
              </a:r>
              <a:r>
                <a:rPr lang="en-US" sz="2800" dirty="0" err="1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vectoriales</a:t>
              </a:r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, superficies, </a:t>
              </a:r>
              <a:r>
                <a:rPr lang="en-US" sz="2800" dirty="0" err="1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imágenes</a:t>
              </a:r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, mapas</a:t>
              </a:r>
              <a:endParaRPr lang="en-US" sz="2800" dirty="0">
                <a:solidFill>
                  <a:schemeClr val="bg2"/>
                </a:solidFill>
                <a:latin typeface="Univers Condensed Light" panose="020B0506020202050204" pitchFamily="34" charset="0"/>
              </a:endParaRPr>
            </a:p>
          </p:txBody>
        </p:sp>
        <p:sp>
          <p:nvSpPr>
            <p:cNvPr id="20" name="Shape 9">
              <a:extLst>
                <a:ext uri="{FF2B5EF4-FFF2-40B4-BE49-F238E27FC236}">
                  <a16:creationId xmlns:a16="http://schemas.microsoft.com/office/drawing/2014/main" id="{9B7EF705-C4E0-2587-50F0-E5D36DD83C85}"/>
                </a:ext>
              </a:extLst>
            </p:cNvPr>
            <p:cNvSpPr/>
            <p:nvPr/>
          </p:nvSpPr>
          <p:spPr>
            <a:xfrm>
              <a:off x="1791149" y="3945241"/>
              <a:ext cx="548640" cy="621792"/>
            </a:xfrm>
            <a:prstGeom prst="rect">
              <a:avLst/>
            </a:prstGeom>
            <a:solidFill>
              <a:srgbClr val="F0FDF4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506020202050204" pitchFamily="34" charset="0"/>
              </a:endParaRPr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60AD7A8C-BAE9-21B7-B3F8-FBADEB681294}"/>
                </a:ext>
              </a:extLst>
            </p:cNvPr>
            <p:cNvSpPr/>
            <p:nvPr/>
          </p:nvSpPr>
          <p:spPr>
            <a:xfrm>
              <a:off x="1791149" y="3933090"/>
              <a:ext cx="54864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3D</a:t>
              </a:r>
              <a:endParaRPr lang="en-US" sz="40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A295A1D5-6767-B331-B705-1A40F2F9297F}"/>
                </a:ext>
              </a:extLst>
            </p:cNvPr>
            <p:cNvSpPr/>
            <p:nvPr/>
          </p:nvSpPr>
          <p:spPr>
            <a:xfrm>
              <a:off x="2476948" y="4049552"/>
              <a:ext cx="4257338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volúmenes, nubes de puntos</a:t>
              </a:r>
              <a:endParaRPr lang="en-US" sz="2800" dirty="0">
                <a:solidFill>
                  <a:schemeClr val="bg2"/>
                </a:solidFill>
                <a:latin typeface="Univers Condensed Light" panose="020B0506020202050204" pitchFamily="34" charset="0"/>
              </a:endParaRPr>
            </a:p>
          </p:txBody>
        </p:sp>
        <p:sp>
          <p:nvSpPr>
            <p:cNvPr id="23" name="Shape 12">
              <a:extLst>
                <a:ext uri="{FF2B5EF4-FFF2-40B4-BE49-F238E27FC236}">
                  <a16:creationId xmlns:a16="http://schemas.microsoft.com/office/drawing/2014/main" id="{998913FA-9D03-EF8F-C256-2E4B40B1517A}"/>
                </a:ext>
              </a:extLst>
            </p:cNvPr>
            <p:cNvSpPr/>
            <p:nvPr/>
          </p:nvSpPr>
          <p:spPr>
            <a:xfrm>
              <a:off x="1791149" y="4689961"/>
              <a:ext cx="548640" cy="621792"/>
            </a:xfrm>
            <a:prstGeom prst="rect">
              <a:avLst/>
            </a:prstGeom>
            <a:solidFill>
              <a:srgbClr val="FFF7ED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ES_tradnl" sz="4000" dirty="0">
                <a:solidFill>
                  <a:schemeClr val="bg2"/>
                </a:solidFill>
                <a:latin typeface="Univers Condensed Light" panose="020B0506020202050204" pitchFamily="34" charset="0"/>
              </a:endParaRPr>
            </a:p>
          </p:txBody>
        </p:sp>
        <p:sp>
          <p:nvSpPr>
            <p:cNvPr id="24" name="Text 13">
              <a:extLst>
                <a:ext uri="{FF2B5EF4-FFF2-40B4-BE49-F238E27FC236}">
                  <a16:creationId xmlns:a16="http://schemas.microsoft.com/office/drawing/2014/main" id="{05F42AE1-3D2B-C73E-B543-E3F063E16DF8}"/>
                </a:ext>
              </a:extLst>
            </p:cNvPr>
            <p:cNvSpPr/>
            <p:nvPr/>
          </p:nvSpPr>
          <p:spPr>
            <a:xfrm>
              <a:off x="1791149" y="4677806"/>
              <a:ext cx="54864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nD</a:t>
              </a:r>
              <a:endParaRPr lang="en-US" sz="40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25" name="Text 14">
              <a:extLst>
                <a:ext uri="{FF2B5EF4-FFF2-40B4-BE49-F238E27FC236}">
                  <a16:creationId xmlns:a16="http://schemas.microsoft.com/office/drawing/2014/main" id="{A8C0D520-94BD-44C6-B1A1-2A880C989C20}"/>
                </a:ext>
              </a:extLst>
            </p:cNvPr>
            <p:cNvSpPr/>
            <p:nvPr/>
          </p:nvSpPr>
          <p:spPr>
            <a:xfrm>
              <a:off x="2476949" y="4779312"/>
              <a:ext cx="4440218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datos multivariados, reducción dimensional</a:t>
              </a:r>
              <a:endParaRPr lang="en-US" sz="2800" dirty="0">
                <a:solidFill>
                  <a:schemeClr val="bg2"/>
                </a:solidFill>
                <a:latin typeface="Univers Condensed Light" panose="020B0506020202050204" pitchFamily="34" charset="0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7560247-CC30-A974-9BC1-FE79C4186CEB}"/>
              </a:ext>
            </a:extLst>
          </p:cNvPr>
          <p:cNvCxnSpPr/>
          <p:nvPr/>
        </p:nvCxnSpPr>
        <p:spPr>
          <a:xfrm>
            <a:off x="754533" y="6229295"/>
            <a:ext cx="10407453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051E2C-0566-0BF0-C875-FB3AE7518E20}"/>
              </a:ext>
            </a:extLst>
          </p:cNvPr>
          <p:cNvCxnSpPr>
            <a:cxnSpLocks/>
          </p:cNvCxnSpPr>
          <p:nvPr/>
        </p:nvCxnSpPr>
        <p:spPr>
          <a:xfrm>
            <a:off x="754533" y="808038"/>
            <a:ext cx="10772059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13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EFF53D-B55D-4E83-A240-6DB91122F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57931"/>
            <a:ext cx="7772400" cy="494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9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743087-DEE4-579B-ACF9-86B504FB7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t="1693" b="2492"/>
          <a:stretch>
            <a:fillRect/>
          </a:stretch>
        </p:blipFill>
        <p:spPr>
          <a:xfrm>
            <a:off x="210375" y="1759643"/>
            <a:ext cx="11332186" cy="331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611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AE30D1-ADBA-D110-2C10-649369255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9" r="498"/>
          <a:stretch>
            <a:fillRect/>
          </a:stretch>
        </p:blipFill>
        <p:spPr>
          <a:xfrm>
            <a:off x="717884" y="1621971"/>
            <a:ext cx="10646802" cy="369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56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EC5B7B-93B1-92E5-90A8-50516E4F0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5" y="1604671"/>
            <a:ext cx="9854632" cy="364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18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ACB3C-8C8F-B34C-CE64-27AAE24D1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2">
            <a:extLst>
              <a:ext uri="{FF2B5EF4-FFF2-40B4-BE49-F238E27FC236}">
                <a16:creationId xmlns:a16="http://schemas.microsoft.com/office/drawing/2014/main" id="{6BFC6956-592C-8FDB-212D-82B6ECD4A040}"/>
              </a:ext>
            </a:extLst>
          </p:cNvPr>
          <p:cNvSpPr/>
          <p:nvPr/>
        </p:nvSpPr>
        <p:spPr>
          <a:xfrm>
            <a:off x="754533" y="1174716"/>
            <a:ext cx="903492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 err="1">
                <a:solidFill>
                  <a:schemeClr val="bg2"/>
                </a:solidFill>
                <a:latin typeface="+mj-lt"/>
                <a:ea typeface="Calibri" pitchFamily="34" charset="-122"/>
                <a:cs typeface="Calibri" pitchFamily="34" charset="-120"/>
              </a:rPr>
              <a:t>Tipos</a:t>
            </a:r>
            <a:r>
              <a:rPr lang="en-US" sz="4800" dirty="0">
                <a:solidFill>
                  <a:schemeClr val="bg2"/>
                </a:solidFill>
                <a:latin typeface="+mj-lt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4800" dirty="0" err="1">
                <a:solidFill>
                  <a:schemeClr val="bg2"/>
                </a:solidFill>
                <a:latin typeface="+mj-lt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4800" dirty="0">
                <a:solidFill>
                  <a:schemeClr val="bg2"/>
                </a:solidFill>
                <a:latin typeface="+mj-lt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Por dimension del </a:t>
            </a:r>
            <a:r>
              <a:rPr lang="en-US" sz="32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dominio</a:t>
            </a:r>
            <a:endParaRPr lang="en-US" sz="4800" dirty="0">
              <a:solidFill>
                <a:schemeClr val="accent5">
                  <a:lumMod val="60000"/>
                  <a:lumOff val="40000"/>
                </a:schemeClr>
              </a:solidFill>
              <a:latin typeface="+mj-l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155FB08-2DAB-BB85-21DB-84F26F92469D}"/>
              </a:ext>
            </a:extLst>
          </p:cNvPr>
          <p:cNvGrpSpPr/>
          <p:nvPr/>
        </p:nvGrpSpPr>
        <p:grpSpPr>
          <a:xfrm>
            <a:off x="1797086" y="2199412"/>
            <a:ext cx="8454497" cy="2686661"/>
            <a:chOff x="1791149" y="2438759"/>
            <a:chExt cx="5256295" cy="2116123"/>
          </a:xfrm>
        </p:grpSpPr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D9BE8C1B-B67C-2AA1-7492-BF605CACB369}"/>
                </a:ext>
              </a:extLst>
            </p:cNvPr>
            <p:cNvSpPr/>
            <p:nvPr/>
          </p:nvSpPr>
          <p:spPr>
            <a:xfrm>
              <a:off x="1791149" y="2438759"/>
              <a:ext cx="54864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1D</a:t>
              </a:r>
              <a:endParaRPr lang="en-US" sz="40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EBAEEDD6-CDC9-BF49-AA4F-65271A3631BA}"/>
                </a:ext>
              </a:extLst>
            </p:cNvPr>
            <p:cNvSpPr/>
            <p:nvPr/>
          </p:nvSpPr>
          <p:spPr>
            <a:xfrm>
              <a:off x="1791149" y="3198074"/>
              <a:ext cx="548640" cy="621792"/>
            </a:xfrm>
            <a:prstGeom prst="rect">
              <a:avLst/>
            </a:prstGeom>
            <a:solidFill>
              <a:srgbClr val="E0F2FE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solidFill>
                  <a:schemeClr val="bg2"/>
                </a:solidFill>
                <a:latin typeface="Univers Condensed Light" panose="020B0506020202050204" pitchFamily="34" charset="0"/>
              </a:endParaRPr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754BA658-97F5-8AD0-C7BD-113D4320C692}"/>
                </a:ext>
              </a:extLst>
            </p:cNvPr>
            <p:cNvSpPr/>
            <p:nvPr/>
          </p:nvSpPr>
          <p:spPr>
            <a:xfrm>
              <a:off x="1791149" y="3185924"/>
              <a:ext cx="54864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2D</a:t>
              </a:r>
              <a:endParaRPr lang="en-US" sz="40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EBC82B50-C827-20A2-7389-35370B86FB9B}"/>
                </a:ext>
              </a:extLst>
            </p:cNvPr>
            <p:cNvSpPr/>
            <p:nvPr/>
          </p:nvSpPr>
          <p:spPr>
            <a:xfrm>
              <a:off x="2476948" y="3307804"/>
              <a:ext cx="4570496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campos </a:t>
              </a:r>
              <a:r>
                <a:rPr lang="en-US" sz="2800" dirty="0" err="1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escalares</a:t>
              </a:r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/</a:t>
              </a:r>
              <a:r>
                <a:rPr lang="en-US" sz="2800" dirty="0" err="1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vectoriales</a:t>
              </a:r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, superficies, </a:t>
              </a:r>
              <a:r>
                <a:rPr lang="en-US" sz="2800" dirty="0" err="1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imágenes</a:t>
              </a:r>
              <a:r>
                <a:rPr lang="en-US" sz="2800" dirty="0">
                  <a:solidFill>
                    <a:schemeClr val="bg2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, mapas</a:t>
              </a:r>
              <a:endParaRPr lang="en-US" sz="2800" dirty="0">
                <a:solidFill>
                  <a:schemeClr val="bg2"/>
                </a:solidFill>
                <a:latin typeface="Univers Condensed Light" panose="020B0506020202050204" pitchFamily="34" charset="0"/>
              </a:endParaRPr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3FAF7A7B-B357-85F8-9C38-74643ECBD183}"/>
                </a:ext>
              </a:extLst>
            </p:cNvPr>
            <p:cNvSpPr/>
            <p:nvPr/>
          </p:nvSpPr>
          <p:spPr>
            <a:xfrm>
              <a:off x="1791149" y="3933090"/>
              <a:ext cx="54864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3D</a:t>
              </a:r>
              <a:endParaRPr lang="en-US" sz="4000" dirty="0">
                <a:latin typeface="Univers Condensed Light" panose="020B0506020202050204" pitchFamily="34" charset="0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5BCD2F-6C4A-7731-41AE-7625C6CC53C7}"/>
              </a:ext>
            </a:extLst>
          </p:cNvPr>
          <p:cNvCxnSpPr/>
          <p:nvPr/>
        </p:nvCxnSpPr>
        <p:spPr>
          <a:xfrm>
            <a:off x="754533" y="6229295"/>
            <a:ext cx="10407453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53795DC-8706-50C2-6061-31CBD17D7C1C}"/>
              </a:ext>
            </a:extLst>
          </p:cNvPr>
          <p:cNvCxnSpPr>
            <a:cxnSpLocks/>
          </p:cNvCxnSpPr>
          <p:nvPr/>
        </p:nvCxnSpPr>
        <p:spPr>
          <a:xfrm>
            <a:off x="754533" y="808038"/>
            <a:ext cx="10772059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211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28873F3-CD71-AED7-34BE-8C54D6397669}"/>
              </a:ext>
            </a:extLst>
          </p:cNvPr>
          <p:cNvSpPr/>
          <p:nvPr/>
        </p:nvSpPr>
        <p:spPr>
          <a:xfrm>
            <a:off x="710054" y="1303504"/>
            <a:ext cx="1077189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dirty="0">
                <a:latin typeface="+mj-lt"/>
                <a:ea typeface="Calibri" pitchFamily="34" charset="-122"/>
                <a:cs typeface="Calibri" pitchFamily="34" charset="-120"/>
              </a:rPr>
              <a:t>Colormaps</a:t>
            </a:r>
            <a:r>
              <a:rPr lang="en-US" sz="5400" dirty="0">
                <a:latin typeface="+mj-lt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5400" dirty="0" err="1">
                <a:latin typeface="+mj-lt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5400" dirty="0">
                <a:latin typeface="+mj-lt"/>
                <a:ea typeface="Calibri" pitchFamily="34" charset="-122"/>
                <a:cs typeface="Calibri" pitchFamily="34" charset="-120"/>
              </a:rPr>
              <a:t> visualización científica</a:t>
            </a:r>
            <a:endParaRPr lang="en-US" sz="5400" dirty="0">
              <a:latin typeface="+mj-lt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B5940FC-486A-A958-0346-2B2E5E345F63}"/>
              </a:ext>
            </a:extLst>
          </p:cNvPr>
          <p:cNvSpPr/>
          <p:nvPr/>
        </p:nvSpPr>
        <p:spPr>
          <a:xfrm>
            <a:off x="710054" y="3243609"/>
            <a:ext cx="101794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Cómo el color revela — o esconde — la información</a:t>
            </a:r>
            <a:endParaRPr lang="en-US" sz="3200" dirty="0">
              <a:solidFill>
                <a:schemeClr val="accent5">
                  <a:lumMod val="50000"/>
                </a:schemeClr>
              </a:solidFill>
              <a:latin typeface="Univers Condensed Light" panose="020B0506020202050204" pitchFamily="34" charset="0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AE0D4877-932C-22E2-1E8C-B98819F04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95" y="4737238"/>
            <a:ext cx="3123244" cy="347472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71A8B8FB-74D3-B47D-513A-5D38F922E540}"/>
              </a:ext>
            </a:extLst>
          </p:cNvPr>
          <p:cNvSpPr/>
          <p:nvPr/>
        </p:nvSpPr>
        <p:spPr>
          <a:xfrm>
            <a:off x="1063795" y="5124440"/>
            <a:ext cx="3123244" cy="478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latin typeface="+mj-lt"/>
                <a:ea typeface="Calibri" pitchFamily="34" charset="-122"/>
                <a:cs typeface="Calibri" pitchFamily="34" charset="-120"/>
              </a:rPr>
              <a:t>jet</a:t>
            </a:r>
            <a:endParaRPr lang="en-US" sz="2500" dirty="0">
              <a:latin typeface="+mj-lt"/>
            </a:endParaRPr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01C5BA86-DCCC-79FD-CB7C-DDE81C422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378" y="4737238"/>
            <a:ext cx="3123244" cy="347472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CC2478E0-B65A-D19B-E5C8-B8E1AB5BD62B}"/>
              </a:ext>
            </a:extLst>
          </p:cNvPr>
          <p:cNvSpPr/>
          <p:nvPr/>
        </p:nvSpPr>
        <p:spPr>
          <a:xfrm>
            <a:off x="4534378" y="5124440"/>
            <a:ext cx="3123244" cy="478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latin typeface="+mj-lt"/>
                <a:ea typeface="Calibri" pitchFamily="34" charset="-122"/>
                <a:cs typeface="Calibri" pitchFamily="34" charset="-120"/>
              </a:rPr>
              <a:t>viridis</a:t>
            </a:r>
            <a:endParaRPr lang="en-US" sz="2500" dirty="0">
              <a:latin typeface="+mj-lt"/>
            </a:endParaRPr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B3EB15D7-B751-5FD7-3F67-F2EE2BB24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961" y="4737238"/>
            <a:ext cx="3123244" cy="347472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B3AB1EED-8794-93F6-421F-0D52AF7A52B7}"/>
              </a:ext>
            </a:extLst>
          </p:cNvPr>
          <p:cNvSpPr/>
          <p:nvPr/>
        </p:nvSpPr>
        <p:spPr>
          <a:xfrm>
            <a:off x="8004961" y="5124440"/>
            <a:ext cx="3123244" cy="478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latin typeface="+mj-lt"/>
                <a:ea typeface="Calibri" pitchFamily="34" charset="-122"/>
                <a:cs typeface="Calibri" pitchFamily="34" charset="-120"/>
              </a:rPr>
              <a:t>RdBu</a:t>
            </a:r>
            <a:endParaRPr lang="en-US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3943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EA2EEB9A-70C4-EBEA-2A4C-B0B8F49B8B17}"/>
              </a:ext>
            </a:extLst>
          </p:cNvPr>
          <p:cNvSpPr/>
          <p:nvPr/>
        </p:nvSpPr>
        <p:spPr>
          <a:xfrm>
            <a:off x="898301" y="974673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latin typeface="+mj-lt"/>
                <a:ea typeface="Calibri" pitchFamily="34" charset="-122"/>
                <a:cs typeface="Calibri" pitchFamily="34" charset="-120"/>
              </a:rPr>
              <a:t>Tipos de colormaps</a:t>
            </a:r>
            <a:endParaRPr lang="en-US" sz="5400" dirty="0">
              <a:latin typeface="+mj-lt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8E28E54-F9B6-0F8F-5E9A-604F725130EB}"/>
              </a:ext>
            </a:extLst>
          </p:cNvPr>
          <p:cNvSpPr/>
          <p:nvPr/>
        </p:nvSpPr>
        <p:spPr>
          <a:xfrm>
            <a:off x="898301" y="1902611"/>
            <a:ext cx="5023528" cy="196596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ES_tradnl">
              <a:latin typeface="Univers Condensed Light" panose="020B050602020205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0DC58A6-AD4C-84DE-5C36-40B747929021}"/>
              </a:ext>
            </a:extLst>
          </p:cNvPr>
          <p:cNvSpPr/>
          <p:nvPr/>
        </p:nvSpPr>
        <p:spPr>
          <a:xfrm>
            <a:off x="1062893" y="1966619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2400" b="1" dirty="0">
              <a:latin typeface="Univers Condensed Light" panose="020B0506020202050204" pitchFamily="34" charset="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8A7C4B39-9AB5-9E55-3F85-E3F24CA4A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3" y="2378099"/>
            <a:ext cx="3895344" cy="29260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F74B2E85-06D8-1AC8-0BE5-70CF6CC393B8}"/>
              </a:ext>
            </a:extLst>
          </p:cNvPr>
          <p:cNvSpPr/>
          <p:nvPr/>
        </p:nvSpPr>
        <p:spPr>
          <a:xfrm>
            <a:off x="1062893" y="2764068"/>
            <a:ext cx="461945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Un extremo oscuro, otro claro.</a:t>
            </a:r>
            <a:endParaRPr lang="en-US" sz="1400" u="sng" dirty="0">
              <a:latin typeface="Univers Condensed Light" panose="020B050602020205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Uso: </a:t>
            </a:r>
            <a:r>
              <a:rPr lang="en-US" sz="1400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datos con un solo sentido de </a:t>
            </a:r>
            <a:r>
              <a:rPr lang="en-US" sz="1400" dirty="0" err="1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variación</a:t>
            </a:r>
            <a:r>
              <a:rPr lang="en-US" sz="1400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 err="1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densidad</a:t>
            </a:r>
            <a:r>
              <a:rPr lang="en-US" sz="1400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, temperatura ≥ 0, altitud).</a:t>
            </a:r>
            <a:endParaRPr lang="en-US" sz="1400" dirty="0">
              <a:latin typeface="Univers Condensed Light" panose="020B050602020205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03E7224-4B56-F84B-0438-CC9A902EDD53}"/>
              </a:ext>
            </a:extLst>
          </p:cNvPr>
          <p:cNvSpPr/>
          <p:nvPr/>
        </p:nvSpPr>
        <p:spPr>
          <a:xfrm>
            <a:off x="1062893" y="3577884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Ej: viridis, plasma, inferno, Blues</a:t>
            </a:r>
            <a:endParaRPr lang="en-US" sz="1400" dirty="0">
              <a:latin typeface="Univers Condensed Light" panose="020B0506020202050204" pitchFamily="34" charset="0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F563997-3858-204E-D539-E4EF6EBAB24C}"/>
              </a:ext>
            </a:extLst>
          </p:cNvPr>
          <p:cNvSpPr/>
          <p:nvPr/>
        </p:nvSpPr>
        <p:spPr>
          <a:xfrm>
            <a:off x="6270173" y="1898039"/>
            <a:ext cx="4858934" cy="196596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ES_tradnl">
              <a:latin typeface="Univers Condensed Light" panose="020B050602020205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CB69AED-DDC3-A4A4-1435-F512B0724F06}"/>
              </a:ext>
            </a:extLst>
          </p:cNvPr>
          <p:cNvSpPr/>
          <p:nvPr/>
        </p:nvSpPr>
        <p:spPr>
          <a:xfrm>
            <a:off x="6434765" y="2007767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Divergente</a:t>
            </a:r>
            <a:endParaRPr lang="en-US" sz="2400" dirty="0">
              <a:latin typeface="Univers Condensed Light" panose="020B0506020202050204" pitchFamily="34" charset="0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04976416-1ECD-929E-D246-801988267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765" y="2373527"/>
            <a:ext cx="3895344" cy="292608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594D89ED-9DE8-5196-8E17-C27376FC9C39}"/>
              </a:ext>
            </a:extLst>
          </p:cNvPr>
          <p:cNvSpPr/>
          <p:nvPr/>
        </p:nvSpPr>
        <p:spPr>
          <a:xfrm>
            <a:off x="6434764" y="2795787"/>
            <a:ext cx="460334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Centro neutro, dos extremos con colores distintos.</a:t>
            </a:r>
            <a:endParaRPr lang="en-US" sz="1400" dirty="0">
              <a:latin typeface="Univers Condensed Light" panose="020B050602020205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Uso: </a:t>
            </a:r>
            <a:r>
              <a:rPr lang="en-US" sz="1400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datos que varían alrededor de un valor de </a:t>
            </a:r>
            <a:r>
              <a:rPr lang="en-US" sz="1400" dirty="0" err="1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referencia</a:t>
            </a:r>
            <a:r>
              <a:rPr lang="en-US" sz="1400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latin typeface="Univers Condensed Light" panose="020B050602020205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C24A3F12-49D1-1BC0-FAE2-44319BA27EF8}"/>
              </a:ext>
            </a:extLst>
          </p:cNvPr>
          <p:cNvSpPr/>
          <p:nvPr/>
        </p:nvSpPr>
        <p:spPr>
          <a:xfrm>
            <a:off x="6434765" y="3467871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Ej: RdBu, coolwarm, seismic, PiYG</a:t>
            </a:r>
            <a:endParaRPr lang="en-US" sz="1400" dirty="0">
              <a:latin typeface="Univers Condensed Light" panose="020B0506020202050204" pitchFamily="34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21DCDEC3-BDD8-4D28-450D-EC83BCAD4DCD}"/>
              </a:ext>
            </a:extLst>
          </p:cNvPr>
          <p:cNvSpPr/>
          <p:nvPr/>
        </p:nvSpPr>
        <p:spPr>
          <a:xfrm>
            <a:off x="898300" y="4051451"/>
            <a:ext cx="5023527" cy="196596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s-ES_tradnl">
              <a:latin typeface="Univers Condensed Light" panose="020B050602020205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C8498F2D-66F5-B243-B627-11A0A34B6E34}"/>
              </a:ext>
            </a:extLst>
          </p:cNvPr>
          <p:cNvSpPr/>
          <p:nvPr/>
        </p:nvSpPr>
        <p:spPr>
          <a:xfrm>
            <a:off x="1062893" y="4161179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Cíclico</a:t>
            </a:r>
            <a:endParaRPr lang="en-US" sz="2400" dirty="0">
              <a:latin typeface="Univers Condensed Light" panose="020B0506020202050204" pitchFamily="34" charset="0"/>
            </a:endParaRPr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01A9B690-C1F0-A28A-7E99-E5B0F3537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93" y="4526939"/>
            <a:ext cx="3895344" cy="292608"/>
          </a:xfrm>
          <a:prstGeom prst="rect">
            <a:avLst/>
          </a:prstGeom>
        </p:spPr>
      </p:pic>
      <p:sp>
        <p:nvSpPr>
          <p:cNvPr id="19" name="Text 12">
            <a:extLst>
              <a:ext uri="{FF2B5EF4-FFF2-40B4-BE49-F238E27FC236}">
                <a16:creationId xmlns:a16="http://schemas.microsoft.com/office/drawing/2014/main" id="{ED958308-C729-2242-92F6-3152F87B551B}"/>
              </a:ext>
            </a:extLst>
          </p:cNvPr>
          <p:cNvSpPr/>
          <p:nvPr/>
        </p:nvSpPr>
        <p:spPr>
          <a:xfrm>
            <a:off x="1062893" y="4874411"/>
            <a:ext cx="38953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Inicio y fin con el mismo color.</a:t>
            </a:r>
            <a:endParaRPr lang="en-US" sz="1400" u="sng" dirty="0">
              <a:latin typeface="Univers Condensed Light" panose="020B050602020205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Uso: </a:t>
            </a:r>
            <a:r>
              <a:rPr lang="en-US" sz="1400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ángulos, fases, hora del día, dirección del viento.</a:t>
            </a:r>
            <a:endParaRPr lang="en-US" sz="1400" dirty="0">
              <a:latin typeface="Univers Condensed Light" panose="020B0506020202050204" pitchFamily="34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BF48FBD-64F5-373B-077A-04C89C063524}"/>
              </a:ext>
            </a:extLst>
          </p:cNvPr>
          <p:cNvSpPr/>
          <p:nvPr/>
        </p:nvSpPr>
        <p:spPr>
          <a:xfrm>
            <a:off x="1062893" y="5624219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Ej: twilight, hsv, cmocean.phase</a:t>
            </a:r>
            <a:endParaRPr lang="en-US" sz="1400" dirty="0">
              <a:latin typeface="Univers Condensed Light" panose="020B0506020202050204" pitchFamily="34" charset="0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084FF90B-F4D1-99DD-AD73-E52B2003E6E8}"/>
              </a:ext>
            </a:extLst>
          </p:cNvPr>
          <p:cNvSpPr/>
          <p:nvPr/>
        </p:nvSpPr>
        <p:spPr>
          <a:xfrm>
            <a:off x="6270173" y="4051451"/>
            <a:ext cx="4858934" cy="1965960"/>
          </a:xfrm>
          <a:prstGeom prst="rect">
            <a:avLst/>
          </a:prstGeom>
          <a:solidFill>
            <a:srgbClr val="FAF5FF"/>
          </a:solidFill>
          <a:ln w="9525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s-ES_tradnl">
              <a:latin typeface="Univers Condensed Light" panose="020B0506020202050204" pitchFamily="34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B53C96AD-898A-3BED-5F0D-B1551CDC02D5}"/>
              </a:ext>
            </a:extLst>
          </p:cNvPr>
          <p:cNvSpPr/>
          <p:nvPr/>
        </p:nvSpPr>
        <p:spPr>
          <a:xfrm>
            <a:off x="6434765" y="4161179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Cualitativo</a:t>
            </a:r>
            <a:endParaRPr lang="en-US" sz="2400" dirty="0">
              <a:latin typeface="Univers Condensed Light" panose="020B0506020202050204" pitchFamily="34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65BC2E3-1FA4-505F-2518-7B34D41EB812}"/>
              </a:ext>
            </a:extLst>
          </p:cNvPr>
          <p:cNvSpPr/>
          <p:nvPr/>
        </p:nvSpPr>
        <p:spPr>
          <a:xfrm>
            <a:off x="6434765" y="4526939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dirty="0">
                <a:solidFill>
                  <a:srgbClr val="7C3AED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FF0000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dirty="0">
                <a:solidFill>
                  <a:srgbClr val="7C3AED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FFC000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dirty="0">
                <a:solidFill>
                  <a:srgbClr val="7C3AED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FFFF00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dirty="0">
                <a:solidFill>
                  <a:srgbClr val="7C3AED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92D050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dirty="0">
                <a:solidFill>
                  <a:srgbClr val="7C3AED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00B050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dirty="0">
                <a:solidFill>
                  <a:srgbClr val="7C3AED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00B0F0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dirty="0">
                <a:solidFill>
                  <a:srgbClr val="7C3AED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0070C0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dirty="0">
                <a:solidFill>
                  <a:srgbClr val="7C3AED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002060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dirty="0">
                <a:solidFill>
                  <a:srgbClr val="7C3AED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 ■</a:t>
            </a:r>
            <a:endParaRPr lang="en-US" dirty="0">
              <a:latin typeface="Univers Condensed Light" panose="020B0506020202050204" pitchFamily="34" charset="0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3E15FDEE-7B9A-5106-E59A-FF08C72CEF54}"/>
              </a:ext>
            </a:extLst>
          </p:cNvPr>
          <p:cNvSpPr/>
          <p:nvPr/>
        </p:nvSpPr>
        <p:spPr>
          <a:xfrm>
            <a:off x="6434765" y="4874411"/>
            <a:ext cx="42274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Colores discretos y diferenciables.</a:t>
            </a:r>
            <a:endParaRPr lang="en-US" sz="1400" u="sng" dirty="0">
              <a:latin typeface="Univers Condensed Light" panose="020B050602020205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Uso: </a:t>
            </a:r>
            <a:r>
              <a:rPr lang="en-US" sz="1400" dirty="0">
                <a:solidFill>
                  <a:srgbClr val="1E293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categorías sin orden natural (clases, etiquetas, regiones).</a:t>
            </a:r>
            <a:endParaRPr lang="en-US" sz="1400" dirty="0">
              <a:latin typeface="Univers Condensed Light" panose="020B0506020202050204" pitchFamily="34" charset="0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7F7A9FCD-A0BE-D930-6398-2A3EA4AB6DE9}"/>
              </a:ext>
            </a:extLst>
          </p:cNvPr>
          <p:cNvSpPr/>
          <p:nvPr/>
        </p:nvSpPr>
        <p:spPr>
          <a:xfrm>
            <a:off x="6434765" y="5624219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Univers Condensed Light" panose="020B0506020202050204" pitchFamily="34" charset="0"/>
                <a:ea typeface="Calibri" pitchFamily="34" charset="-122"/>
                <a:cs typeface="Calibri" pitchFamily="34" charset="-120"/>
              </a:rPr>
              <a:t>Ej: Set1, tab10, Paired</a:t>
            </a:r>
            <a:endParaRPr lang="en-US" sz="1400" dirty="0">
              <a:latin typeface="Univers Condensed Light" panose="020B0506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372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E93ED-AC9E-0316-3341-AE02C674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8" y="868205"/>
            <a:ext cx="10483690" cy="25607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Univers Condensed Light" panose="020B0506020202050204" pitchFamily="34" charset="0"/>
              </a:rPr>
              <a:t>Peter Kovesi </a:t>
            </a:r>
            <a:r>
              <a:rPr lang="en-US" sz="3000" dirty="0" err="1">
                <a:latin typeface="Univers Condensed Light" panose="020B0506020202050204" pitchFamily="34" charset="0"/>
              </a:rPr>
              <a:t>propuso</a:t>
            </a:r>
            <a:r>
              <a:rPr lang="en-US" sz="3000" dirty="0">
                <a:latin typeface="Univers Condensed Light" panose="020B0506020202050204" pitchFamily="34" charset="0"/>
              </a:rPr>
              <a:t> </a:t>
            </a:r>
            <a:r>
              <a:rPr lang="en-US" sz="3000" dirty="0" err="1">
                <a:latin typeface="Univers Condensed Light" panose="020B0506020202050204" pitchFamily="34" charset="0"/>
              </a:rPr>
              <a:t>una</a:t>
            </a:r>
            <a:r>
              <a:rPr lang="en-US" sz="3000" dirty="0">
                <a:latin typeface="Univers Condensed Light" panose="020B0506020202050204" pitchFamily="34" charset="0"/>
              </a:rPr>
              <a:t> </a:t>
            </a: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</a:rPr>
              <a:t>rampa con </a:t>
            </a:r>
            <a:r>
              <a:rPr lang="en-US" sz="3000" b="1" dirty="0" err="1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</a:rPr>
              <a:t>una</a:t>
            </a: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</a:rPr>
              <a:t> </a:t>
            </a:r>
            <a:r>
              <a:rPr lang="en-US" sz="3000" b="1" dirty="0" err="1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</a:rPr>
              <a:t>ondulación</a:t>
            </a: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</a:rPr>
              <a:t> </a:t>
            </a:r>
            <a:r>
              <a:rPr lang="en-US" sz="3000" b="1" dirty="0">
                <a:latin typeface="Univers Condensed Light" panose="020B0506020202050204" pitchFamily="34" charset="0"/>
              </a:rPr>
              <a:t>-- </a:t>
            </a:r>
            <a:r>
              <a:rPr lang="en-US" sz="3000" dirty="0" err="1">
                <a:latin typeface="Univers Condensed Light" panose="020B0506020202050204" pitchFamily="34" charset="0"/>
              </a:rPr>
              <a:t>comparar</a:t>
            </a:r>
            <a:r>
              <a:rPr lang="en-US" sz="3000" dirty="0">
                <a:latin typeface="Univers Condensed Light" panose="020B0506020202050204" pitchFamily="34" charset="0"/>
              </a:rPr>
              <a:t> </a:t>
            </a:r>
            <a:r>
              <a:rPr lang="en-US" sz="3000" dirty="0" err="1">
                <a:latin typeface="Univers Condensed Light" panose="020B0506020202050204" pitchFamily="34" charset="0"/>
              </a:rPr>
              <a:t>los</a:t>
            </a:r>
            <a:r>
              <a:rPr lang="en-US" sz="3000" dirty="0">
                <a:latin typeface="Univers Condensed Light" panose="020B0506020202050204" pitchFamily="34" charset="0"/>
              </a:rPr>
              <a:t> </a:t>
            </a:r>
            <a:r>
              <a:rPr lang="en-US" sz="3000" dirty="0" err="1">
                <a:latin typeface="Univers Condensed Light" panose="020B0506020202050204" pitchFamily="34" charset="0"/>
              </a:rPr>
              <a:t>cambios</a:t>
            </a:r>
            <a:r>
              <a:rPr lang="en-US" sz="3000" dirty="0">
                <a:latin typeface="Univers Condensed Light" panose="020B0506020202050204" pitchFamily="34" charset="0"/>
              </a:rPr>
              <a:t> de </a:t>
            </a:r>
            <a:r>
              <a:rPr lang="en-US" sz="3000" dirty="0" err="1">
                <a:latin typeface="Univers Condensed Light" panose="020B0506020202050204" pitchFamily="34" charset="0"/>
              </a:rPr>
              <a:t>percepción</a:t>
            </a:r>
            <a:r>
              <a:rPr lang="en-US" sz="3000" dirty="0">
                <a:latin typeface="Univers Condensed Light" panose="020B0506020202050204" pitchFamily="34" charset="0"/>
              </a:rPr>
              <a:t> </a:t>
            </a:r>
            <a:r>
              <a:rPr lang="en-US" sz="3000" dirty="0" err="1">
                <a:latin typeface="Univers Condensed Light" panose="020B0506020202050204" pitchFamily="34" charset="0"/>
              </a:rPr>
              <a:t>globales</a:t>
            </a:r>
            <a:r>
              <a:rPr lang="en-US" sz="3000" dirty="0">
                <a:latin typeface="Univers Condensed Light" panose="020B0506020202050204" pitchFamily="34" charset="0"/>
              </a:rPr>
              <a:t> y locales al </a:t>
            </a:r>
            <a:r>
              <a:rPr lang="en-US" sz="3000" dirty="0" err="1">
                <a:latin typeface="Univers Condensed Light" panose="020B0506020202050204" pitchFamily="34" charset="0"/>
              </a:rPr>
              <a:t>mismo</a:t>
            </a:r>
            <a:r>
              <a:rPr lang="en-US" sz="3000" dirty="0">
                <a:latin typeface="Univers Condensed Light" panose="020B0506020202050204" pitchFamily="34" charset="0"/>
              </a:rPr>
              <a:t> </a:t>
            </a:r>
            <a:r>
              <a:rPr lang="en-US" sz="3000" dirty="0" err="1">
                <a:latin typeface="Univers Condensed Light" panose="020B0506020202050204" pitchFamily="34" charset="0"/>
              </a:rPr>
              <a:t>tiempo</a:t>
            </a:r>
            <a:r>
              <a:rPr lang="en-US" sz="3000" dirty="0">
                <a:latin typeface="Univers Condensed Light" panose="020B0506020202050204" pitchFamily="34" charset="0"/>
              </a:rPr>
              <a:t>. </a:t>
            </a:r>
          </a:p>
          <a:p>
            <a:pPr marL="0" indent="0">
              <a:buNone/>
            </a:pPr>
            <a:endParaRPr lang="en-US" sz="1200" dirty="0">
              <a:latin typeface="Univers Condensed Light" panose="020B0506020202050204" pitchFamily="34" charset="0"/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</a:rPr>
              <a:t>En </a:t>
            </a:r>
            <a:r>
              <a:rPr lang="en-US" sz="3000" b="1" dirty="0" err="1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</a:rPr>
              <a:t>caso</a:t>
            </a: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</a:rPr>
              <a:t> de </a:t>
            </a:r>
            <a:r>
              <a:rPr lang="en-US" sz="3000" b="1" dirty="0" err="1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</a:rPr>
              <a:t>duda</a:t>
            </a: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</a:rPr>
              <a:t>: </a:t>
            </a:r>
            <a:r>
              <a:rPr lang="en-US" sz="3000" dirty="0" err="1">
                <a:latin typeface="Univers Condensed Light" panose="020B0506020202050204" pitchFamily="34" charset="0"/>
              </a:rPr>
              <a:t>comparar</a:t>
            </a:r>
            <a:r>
              <a:rPr lang="en-US" sz="3000" dirty="0">
                <a:latin typeface="Univers Condensed Light" panose="020B0506020202050204" pitchFamily="34" charset="0"/>
              </a:rPr>
              <a:t> con un </a:t>
            </a:r>
            <a:r>
              <a:rPr lang="en-US" sz="3000" dirty="0" err="1">
                <a:latin typeface="Univers Condensed Light" panose="020B0506020202050204" pitchFamily="34" charset="0"/>
              </a:rPr>
              <a:t>mapa</a:t>
            </a:r>
            <a:r>
              <a:rPr lang="en-US" sz="3000" dirty="0">
                <a:latin typeface="Univers Condensed Light" panose="020B0506020202050204" pitchFamily="34" charset="0"/>
              </a:rPr>
              <a:t> de </a:t>
            </a:r>
            <a:r>
              <a:rPr lang="en-US" sz="3000" dirty="0" err="1">
                <a:latin typeface="Univers Condensed Light" panose="020B0506020202050204" pitchFamily="34" charset="0"/>
              </a:rPr>
              <a:t>colores</a:t>
            </a:r>
            <a:r>
              <a:rPr lang="en-US" sz="3000" dirty="0">
                <a:latin typeface="Univers Condensed Light" panose="020B0506020202050204" pitchFamily="34" charset="0"/>
              </a:rPr>
              <a:t> </a:t>
            </a:r>
            <a:r>
              <a:rPr lang="en-US" sz="3000" dirty="0" err="1">
                <a:latin typeface="Univers Condensed Light" panose="020B0506020202050204" pitchFamily="34" charset="0"/>
              </a:rPr>
              <a:t>en</a:t>
            </a:r>
            <a:r>
              <a:rPr lang="en-US" sz="3000" dirty="0">
                <a:latin typeface="Univers Condensed Light" panose="020B0506020202050204" pitchFamily="34" charset="0"/>
              </a:rPr>
              <a:t> </a:t>
            </a:r>
            <a:r>
              <a:rPr lang="en-US" sz="3000" dirty="0" err="1">
                <a:latin typeface="Univers Condensed Light" panose="020B0506020202050204" pitchFamily="34" charset="0"/>
              </a:rPr>
              <a:t>escala</a:t>
            </a:r>
            <a:r>
              <a:rPr lang="en-US" sz="3000" dirty="0">
                <a:latin typeface="Univers Condensed Light" panose="020B0506020202050204" pitchFamily="34" charset="0"/>
              </a:rPr>
              <a:t> de </a:t>
            </a:r>
            <a:r>
              <a:rPr lang="en-US" sz="3000" dirty="0" err="1">
                <a:latin typeface="Univers Condensed Light" panose="020B0506020202050204" pitchFamily="34" charset="0"/>
              </a:rPr>
              <a:t>grises</a:t>
            </a:r>
            <a:r>
              <a:rPr lang="en-US" sz="3000" dirty="0">
                <a:latin typeface="Univers Condensed Light" panose="020B0506020202050204" pitchFamily="34" charset="0"/>
              </a:rPr>
              <a:t>.</a:t>
            </a:r>
            <a:endParaRPr lang="es-ES_tradnl" sz="3000" dirty="0">
              <a:latin typeface="Univers Condensed Light" panose="020B050602020205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79719A-DCB8-7978-A069-ED76E7079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14" y="3089869"/>
            <a:ext cx="4973540" cy="2876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675115-5932-0AB0-DAAF-D97F93D61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519" y="3089868"/>
            <a:ext cx="4973539" cy="287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3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21091E6B-A8D3-DE54-70E8-2649EC0C8AA6}"/>
              </a:ext>
            </a:extLst>
          </p:cNvPr>
          <p:cNvSpPr/>
          <p:nvPr/>
        </p:nvSpPr>
        <p:spPr>
          <a:xfrm>
            <a:off x="791687" y="796437"/>
            <a:ext cx="10417035" cy="783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 err="1">
                <a:latin typeface="+mj-lt"/>
                <a:ea typeface="Calibri" pitchFamily="34" charset="-122"/>
                <a:cs typeface="Calibri" pitchFamily="34" charset="-120"/>
              </a:rPr>
              <a:t>Accesibilidad</a:t>
            </a:r>
            <a:r>
              <a:rPr lang="en-US" sz="4400" dirty="0">
                <a:latin typeface="+mj-lt"/>
                <a:ea typeface="Calibri" pitchFamily="34" charset="-122"/>
                <a:cs typeface="Calibri" pitchFamily="34" charset="-120"/>
              </a:rPr>
              <a:t> - daltonismo y escala de grises</a:t>
            </a:r>
            <a:endParaRPr lang="en-US" sz="4400" dirty="0">
              <a:latin typeface="+mj-lt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F1B7A0A-87B9-0E8D-F489-DB14FA2D5B32}"/>
              </a:ext>
            </a:extLst>
          </p:cNvPr>
          <p:cNvGrpSpPr/>
          <p:nvPr/>
        </p:nvGrpSpPr>
        <p:grpSpPr>
          <a:xfrm>
            <a:off x="791687" y="1779455"/>
            <a:ext cx="10417035" cy="4127814"/>
            <a:chOff x="365760" y="635173"/>
            <a:chExt cx="8485913" cy="3470483"/>
          </a:xfrm>
        </p:grpSpPr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7BD3FB85-75EE-763B-5A24-F812A74ADABC}"/>
                </a:ext>
              </a:extLst>
            </p:cNvPr>
            <p:cNvSpPr/>
            <p:nvPr/>
          </p:nvSpPr>
          <p:spPr>
            <a:xfrm>
              <a:off x="439193" y="635173"/>
              <a:ext cx="841248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Aproximadamente </a:t>
              </a:r>
              <a:r>
                <a:rPr lang="en-US" sz="2400" b="1" dirty="0">
                  <a:solidFill>
                    <a:schemeClr val="accent5">
                      <a:lumMod val="75000"/>
                    </a:schemeClr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8% de la población masculina </a:t>
              </a:r>
              <a:r>
                <a:rPr lang="en-US" sz="2400" dirty="0">
                  <a:solidFill>
                    <a:srgbClr val="1E293B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tiene alguna forma de daltonismo.</a:t>
              </a:r>
              <a:endParaRPr lang="en-US" sz="2400" dirty="0">
                <a:latin typeface="Univers Condensed Light" panose="020B0506020202050204" pitchFamily="34" charset="0"/>
              </a:endParaRPr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El colormap jet falla para deuteranopía (ceguera al verde-rojo, la más común).</a:t>
              </a:r>
              <a:endParaRPr lang="en-US" sz="24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F670F8F8-BE81-E848-552B-6687C9E28094}"/>
                </a:ext>
              </a:extLst>
            </p:cNvPr>
            <p:cNvSpPr/>
            <p:nvPr/>
          </p:nvSpPr>
          <p:spPr>
            <a:xfrm>
              <a:off x="365760" y="1600200"/>
              <a:ext cx="8412480" cy="530352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86EFAC"/>
              </a:solidFill>
              <a:prstDash val="solid"/>
            </a:ln>
          </p:spPr>
          <p:txBody>
            <a:bodyPr/>
            <a:lstStyle/>
            <a:p>
              <a:endParaRPr lang="es-ES_tradnl" sz="3200">
                <a:latin typeface="Univers Condensed Light" panose="020B0506020202050204" pitchFamily="34" charset="0"/>
              </a:endParaRPr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6D91C109-4566-C210-B89C-D4FB734E7E38}"/>
                </a:ext>
              </a:extLst>
            </p:cNvPr>
            <p:cNvSpPr/>
            <p:nvPr/>
          </p:nvSpPr>
          <p:spPr>
            <a:xfrm>
              <a:off x="502920" y="1600200"/>
              <a:ext cx="320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dirty="0">
                  <a:solidFill>
                    <a:srgbClr val="10B981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28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4B95D83E-5B69-B9E0-122C-145059BE88F6}"/>
                </a:ext>
              </a:extLst>
            </p:cNvPr>
            <p:cNvSpPr/>
            <p:nvPr/>
          </p:nvSpPr>
          <p:spPr>
            <a:xfrm>
              <a:off x="868680" y="1600200"/>
              <a:ext cx="777240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0F172A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viridis, cividis, plasma — diseñados explícitamente para daltonismo</a:t>
              </a:r>
              <a:endParaRPr lang="en-US" sz="20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9441D4CE-CD18-9ED6-96B3-C2A65010B102}"/>
                </a:ext>
              </a:extLst>
            </p:cNvPr>
            <p:cNvSpPr/>
            <p:nvPr/>
          </p:nvSpPr>
          <p:spPr>
            <a:xfrm>
              <a:off x="365760" y="2258568"/>
              <a:ext cx="8412480" cy="530352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86EFAC"/>
              </a:solidFill>
              <a:prstDash val="solid"/>
            </a:ln>
          </p:spPr>
          <p:txBody>
            <a:bodyPr/>
            <a:lstStyle/>
            <a:p>
              <a:endParaRPr lang="es-ES_tradnl" sz="3200">
                <a:latin typeface="Univers Condensed Light" panose="020B0506020202050204" pitchFamily="34" charset="0"/>
              </a:endParaRPr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B7428182-4289-63D7-F397-9147F3CAD445}"/>
                </a:ext>
              </a:extLst>
            </p:cNvPr>
            <p:cNvSpPr/>
            <p:nvPr/>
          </p:nvSpPr>
          <p:spPr>
            <a:xfrm>
              <a:off x="502920" y="2258568"/>
              <a:ext cx="320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dirty="0">
                  <a:solidFill>
                    <a:srgbClr val="10B981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28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8FACD149-70B8-3A7E-BC6B-D739900660A0}"/>
                </a:ext>
              </a:extLst>
            </p:cNvPr>
            <p:cNvSpPr/>
            <p:nvPr/>
          </p:nvSpPr>
          <p:spPr>
            <a:xfrm>
              <a:off x="868680" y="2258568"/>
              <a:ext cx="777240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0F172A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cmocean (oceanografía): colormaps con criterio perceptual adicional</a:t>
              </a:r>
              <a:endParaRPr lang="en-US" sz="20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CC05C774-2721-F1B0-834E-11264DBC8900}"/>
                </a:ext>
              </a:extLst>
            </p:cNvPr>
            <p:cNvSpPr/>
            <p:nvPr/>
          </p:nvSpPr>
          <p:spPr>
            <a:xfrm>
              <a:off x="365760" y="2916936"/>
              <a:ext cx="8412480" cy="53035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ECACA"/>
              </a:solidFill>
              <a:prstDash val="solid"/>
            </a:ln>
          </p:spPr>
          <p:txBody>
            <a:bodyPr/>
            <a:lstStyle/>
            <a:p>
              <a:endParaRPr lang="es-ES_tradnl" sz="3200">
                <a:latin typeface="Univers Condensed Light" panose="020B0506020202050204" pitchFamily="34" charset="0"/>
              </a:endParaRPr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E93364B1-D075-5EE8-4FEB-2722A8AC0E97}"/>
                </a:ext>
              </a:extLst>
            </p:cNvPr>
            <p:cNvSpPr/>
            <p:nvPr/>
          </p:nvSpPr>
          <p:spPr>
            <a:xfrm>
              <a:off x="502920" y="2916936"/>
              <a:ext cx="320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dirty="0">
                  <a:solidFill>
                    <a:srgbClr val="EF4444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28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09695027-5A8C-8A8F-F837-748C0E131EF8}"/>
                </a:ext>
              </a:extLst>
            </p:cNvPr>
            <p:cNvSpPr/>
            <p:nvPr/>
          </p:nvSpPr>
          <p:spPr>
            <a:xfrm>
              <a:off x="868680" y="2916936"/>
              <a:ext cx="777240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0F172A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jet, rainbow, hsv — problemáticos; evitar en publicaciones</a:t>
              </a:r>
              <a:endParaRPr lang="en-US" sz="20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F693C86D-DB26-CD1C-4AC5-9BBC1896562C}"/>
                </a:ext>
              </a:extLst>
            </p:cNvPr>
            <p:cNvSpPr/>
            <p:nvPr/>
          </p:nvSpPr>
          <p:spPr>
            <a:xfrm>
              <a:off x="365760" y="3575304"/>
              <a:ext cx="8412480" cy="53035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rgbClr val="FECACA"/>
              </a:solidFill>
              <a:prstDash val="solid"/>
            </a:ln>
          </p:spPr>
          <p:txBody>
            <a:bodyPr/>
            <a:lstStyle/>
            <a:p>
              <a:endParaRPr lang="es-ES_tradnl" sz="3200">
                <a:latin typeface="Univers Condensed Light" panose="020B0506020202050204" pitchFamily="34" charset="0"/>
              </a:endParaRPr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E7B7DEE4-E85D-700E-567B-8AE493B2BA77}"/>
                </a:ext>
              </a:extLst>
            </p:cNvPr>
            <p:cNvSpPr/>
            <p:nvPr/>
          </p:nvSpPr>
          <p:spPr>
            <a:xfrm>
              <a:off x="502920" y="3575304"/>
              <a:ext cx="320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dirty="0">
                  <a:solidFill>
                    <a:srgbClr val="EF4444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✗</a:t>
              </a:r>
              <a:endParaRPr lang="en-US" sz="2800" dirty="0">
                <a:latin typeface="Univers Condensed Light" panose="020B0506020202050204" pitchFamily="34" charset="0"/>
              </a:endParaRPr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B88E9AC1-5B89-C4CD-DAF8-6D8234CF406B}"/>
                </a:ext>
              </a:extLst>
            </p:cNvPr>
            <p:cNvSpPr/>
            <p:nvPr/>
          </p:nvSpPr>
          <p:spPr>
            <a:xfrm>
              <a:off x="868680" y="3575304"/>
              <a:ext cx="777240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0F172A"/>
                  </a:solidFill>
                  <a:latin typeface="Univers Condensed Light" panose="020B0506020202050204" pitchFamily="34" charset="0"/>
                  <a:ea typeface="Calibri" pitchFamily="34" charset="-122"/>
                  <a:cs typeface="Calibri" pitchFamily="34" charset="-120"/>
                </a:rPr>
                <a:t>Cualquier colormap rojo-verde sin evaluación de accesibilidad</a:t>
              </a:r>
              <a:endParaRPr lang="en-US" sz="2000" dirty="0">
                <a:latin typeface="Univers Condensed Light" panose="020B050602020205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5436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0912-801F-BC3C-68BA-71038335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tIPOS</a:t>
            </a:r>
            <a:r>
              <a:rPr lang="es-ES_tradnl" dirty="0"/>
              <a:t> DE REPRESENTACIÓN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38C68-AB68-89AC-677A-2F236DABC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37" y="2354837"/>
            <a:ext cx="10126660" cy="279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7615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2308</TotalTime>
  <Words>526</Words>
  <Application>Microsoft Macintosh PowerPoint</Application>
  <PresentationFormat>Widescreen</PresentationFormat>
  <Paragraphs>92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 Light</vt:lpstr>
      <vt:lpstr>Calisto MT</vt:lpstr>
      <vt:lpstr>Univers Condensed</vt:lpstr>
      <vt:lpstr>Univers Condensed Light</vt:lpstr>
      <vt:lpstr>ChronicleVTI</vt:lpstr>
      <vt:lpstr>Visualización CIENTÍFICA</vt:lpstr>
      <vt:lpstr>Visualización: </vt:lpstr>
      <vt:lpstr>Visualización científica: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tIPOS DE REPRESENTACIÓN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Manuela Bastidas Olivares</dc:creator>
  <cp:lastModifiedBy>Manuela Bastidas Olivares</cp:lastModifiedBy>
  <cp:revision>4</cp:revision>
  <dcterms:created xsi:type="dcterms:W3CDTF">2026-05-04T16:03:53Z</dcterms:created>
  <dcterms:modified xsi:type="dcterms:W3CDTF">2026-05-06T21:49:21Z</dcterms:modified>
</cp:coreProperties>
</file>