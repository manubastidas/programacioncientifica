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2" r:id="rId1"/>
  </p:sldMasterIdLst>
  <p:notesMasterIdLst>
    <p:notesMasterId r:id="rId8"/>
  </p:notesMasterIdLst>
  <p:sldIdLst>
    <p:sldId id="256" r:id="rId2"/>
    <p:sldId id="259" r:id="rId3"/>
    <p:sldId id="269" r:id="rId4"/>
    <p:sldId id="270" r:id="rId5"/>
    <p:sldId id="271" r:id="rId6"/>
    <p:sldId id="272" r:id="rId7"/>
  </p:sldIdLst>
  <p:sldSz cx="12192000" cy="6858000"/>
  <p:notesSz cx="6858000" cy="9144000"/>
  <p:defaultTextStyle>
    <a:defPPr>
      <a:defRPr lang="en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24"/>
    <p:restoredTop sz="94765"/>
  </p:normalViewPr>
  <p:slideViewPr>
    <p:cSldViewPr snapToGrid="0">
      <p:cViewPr>
        <p:scale>
          <a:sx n="92" d="100"/>
          <a:sy n="92" d="100"/>
        </p:scale>
        <p:origin x="1256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6992E-62F6-C847-AEE7-9E7267CDCE7A}" type="datetimeFigureOut">
              <a:rPr lang="es-ES_tradnl" smtClean="0"/>
              <a:t>7/5/26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89429A-79C4-2D45-983A-A832E80D7F79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72707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9429A-79C4-2D45-983A-A832E80D7F79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98140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8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821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66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97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858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7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366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2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390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6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35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675C575-A6AE-B29A-B2A9-73266AAFA0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29" b="8401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F8723C-89EF-45BE-4978-40466B231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s-ES_tradnl" dirty="0">
                <a:solidFill>
                  <a:srgbClr val="FFFFFF"/>
                </a:solidFill>
              </a:rPr>
              <a:t>Visualización</a:t>
            </a:r>
            <a:br>
              <a:rPr lang="es-ES_tradnl" dirty="0">
                <a:solidFill>
                  <a:srgbClr val="FFFFFF"/>
                </a:solidFill>
              </a:rPr>
            </a:br>
            <a:r>
              <a:rPr lang="es-ES_tradnl" dirty="0">
                <a:solidFill>
                  <a:srgbClr val="FFFFFF"/>
                </a:solidFill>
              </a:rPr>
              <a:t>CIENTÍFICA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F01B61-F498-2842-1719-3FABA91CF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es-ES_tradnl" dirty="0">
                <a:solidFill>
                  <a:srgbClr val="FFFFFF"/>
                </a:solidFill>
              </a:rPr>
              <a:t>Clase #3</a:t>
            </a:r>
          </a:p>
          <a:p>
            <a:r>
              <a:rPr lang="es-ES_tradnl" dirty="0">
                <a:solidFill>
                  <a:srgbClr val="FFFFFF"/>
                </a:solidFill>
              </a:rPr>
              <a:t>Manuela Bastidas</a:t>
            </a:r>
          </a:p>
          <a:p>
            <a:r>
              <a:rPr lang="es-ES_tradnl" dirty="0">
                <a:solidFill>
                  <a:srgbClr val="FFFFFF"/>
                </a:solidFill>
              </a:rPr>
              <a:t>8 mayo/2026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616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42ED4-6E81-BC39-CF15-5DB4AFAB5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F148AF-154D-9894-8C57-54B15842EF43}"/>
              </a:ext>
            </a:extLst>
          </p:cNvPr>
          <p:cNvSpPr txBox="1"/>
          <p:nvPr/>
        </p:nvSpPr>
        <p:spPr>
          <a:xfrm>
            <a:off x="782110" y="2792435"/>
            <a:ext cx="39993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6000" b="1" noProof="0" dirty="0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  <a:cs typeface="Calibri Light" panose="020F0302020204030204" pitchFamily="34" charset="0"/>
              </a:rPr>
              <a:t>Exploratoria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AB3918-85C9-5BC4-3029-154CEA3F10E4}"/>
              </a:ext>
            </a:extLst>
          </p:cNvPr>
          <p:cNvSpPr txBox="1"/>
          <p:nvPr/>
        </p:nvSpPr>
        <p:spPr>
          <a:xfrm>
            <a:off x="6371668" y="2792435"/>
            <a:ext cx="42864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6000" b="1" noProof="0" dirty="0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  <a:cs typeface="Calibri Light" panose="020F0302020204030204" pitchFamily="34" charset="0"/>
              </a:rPr>
              <a:t>Explicativa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EE40CE-D455-E17F-B991-B61AC90948FB}"/>
              </a:ext>
            </a:extLst>
          </p:cNvPr>
          <p:cNvSpPr txBox="1"/>
          <p:nvPr/>
        </p:nvSpPr>
        <p:spPr>
          <a:xfrm>
            <a:off x="782110" y="3909317"/>
            <a:ext cx="5038223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Es fundamental en ciencia.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Ayuda a entender los fenómenos.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Los datos provienen de experimentos.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400" dirty="0">
              <a:latin typeface="Univers Condensed Light" panose="020B05060202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87508C-8C33-4EA0-87DD-E7EFBC9A0343}"/>
              </a:ext>
            </a:extLst>
          </p:cNvPr>
          <p:cNvSpPr txBox="1"/>
          <p:nvPr/>
        </p:nvSpPr>
        <p:spPr>
          <a:xfrm>
            <a:off x="6371668" y="3909317"/>
            <a:ext cx="5038224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Se centra en la comunicación y presentar resultados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Contexto: </a:t>
            </a:r>
            <a:r>
              <a:rPr lang="es-ES_tradnl" sz="2400" dirty="0" err="1">
                <a:latin typeface="Univers Condensed Light" panose="020B0506020202050204" pitchFamily="34" charset="0"/>
                <a:cs typeface="Calibri Light" panose="020F0302020204030204" pitchFamily="34" charset="0"/>
              </a:rPr>
              <a:t>Papers</a:t>
            </a: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, conferencias.</a:t>
            </a:r>
          </a:p>
          <a:p>
            <a:endParaRPr lang="es-ES_tradnl" sz="2400" dirty="0">
              <a:latin typeface="Univers Condensed Light" panose="020B05060202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BFD718A-DE30-EDB6-933A-0896561A1C71}"/>
              </a:ext>
            </a:extLst>
          </p:cNvPr>
          <p:cNvSpPr txBox="1">
            <a:spLocks/>
          </p:cNvSpPr>
          <p:nvPr/>
        </p:nvSpPr>
        <p:spPr>
          <a:xfrm>
            <a:off x="800100" y="909919"/>
            <a:ext cx="9464362" cy="12952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5400">
                <a:solidFill>
                  <a:schemeClr val="tx2">
                    <a:lumMod val="90000"/>
                  </a:schemeClr>
                </a:solidFill>
              </a:rPr>
              <a:t>Visualización científica</a:t>
            </a:r>
            <a:r>
              <a:rPr lang="es-ES_tradnl" sz="5400"/>
              <a:t>: </a:t>
            </a:r>
            <a:endParaRPr lang="es-ES_tradnl" sz="5400" dirty="0"/>
          </a:p>
        </p:txBody>
      </p:sp>
    </p:spTree>
    <p:extLst>
      <p:ext uri="{BB962C8B-B14F-4D97-AF65-F5344CB8AC3E}">
        <p14:creationId xmlns:p14="http://schemas.microsoft.com/office/powerpoint/2010/main" val="765093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299E8-79E2-C1F3-BDC6-25EF0268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A9BB24-513E-624B-BBC5-1D3467BDB9C3}"/>
              </a:ext>
            </a:extLst>
          </p:cNvPr>
          <p:cNvSpPr txBox="1"/>
          <p:nvPr/>
        </p:nvSpPr>
        <p:spPr>
          <a:xfrm>
            <a:off x="782110" y="2792435"/>
            <a:ext cx="39993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6000" b="1" noProof="0" dirty="0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  <a:cs typeface="Calibri Light" panose="020F0302020204030204" pitchFamily="34" charset="0"/>
              </a:rPr>
              <a:t>Exploratoria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95461B-E1F3-7270-0712-AE25E637107B}"/>
              </a:ext>
            </a:extLst>
          </p:cNvPr>
          <p:cNvSpPr txBox="1"/>
          <p:nvPr/>
        </p:nvSpPr>
        <p:spPr>
          <a:xfrm>
            <a:off x="6371668" y="2792435"/>
            <a:ext cx="42864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6000" b="1" noProof="0" dirty="0">
                <a:solidFill>
                  <a:schemeClr val="accent5">
                    <a:lumMod val="75000"/>
                  </a:schemeClr>
                </a:solidFill>
                <a:latin typeface="Univers Condensed Light" panose="020B0506020202050204" pitchFamily="34" charset="0"/>
                <a:cs typeface="Calibri Light" panose="020F0302020204030204" pitchFamily="34" charset="0"/>
              </a:rPr>
              <a:t>Explicativa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FFB725-E68F-41DF-A616-5A8BBE1C536D}"/>
              </a:ext>
            </a:extLst>
          </p:cNvPr>
          <p:cNvSpPr txBox="1"/>
          <p:nvPr/>
        </p:nvSpPr>
        <p:spPr>
          <a:xfrm>
            <a:off x="782110" y="3909317"/>
            <a:ext cx="5038223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Es fundamental en ciencia.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Ayuda a entender los fenómenos.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Los datos provienen de experimentos.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_tradnl" sz="2400" dirty="0">
              <a:latin typeface="Univers Condensed Light" panose="020B05060202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3DCE2A-E427-1076-64FE-9BA569C6E794}"/>
              </a:ext>
            </a:extLst>
          </p:cNvPr>
          <p:cNvSpPr txBox="1"/>
          <p:nvPr/>
        </p:nvSpPr>
        <p:spPr>
          <a:xfrm>
            <a:off x="6371668" y="3909317"/>
            <a:ext cx="5038224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Se centra en la comunicación y presentar resultados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Contexto: </a:t>
            </a:r>
            <a:r>
              <a:rPr lang="es-ES_tradnl" sz="2400" dirty="0" err="1">
                <a:latin typeface="Univers Condensed Light" panose="020B0506020202050204" pitchFamily="34" charset="0"/>
                <a:cs typeface="Calibri Light" panose="020F0302020204030204" pitchFamily="34" charset="0"/>
              </a:rPr>
              <a:t>Papers</a:t>
            </a:r>
            <a:r>
              <a:rPr lang="es-ES_tradnl" sz="2400" dirty="0">
                <a:latin typeface="Univers Condensed Light" panose="020B0506020202050204" pitchFamily="34" charset="0"/>
                <a:cs typeface="Calibri Light" panose="020F0302020204030204" pitchFamily="34" charset="0"/>
              </a:rPr>
              <a:t>, conferencias.</a:t>
            </a:r>
          </a:p>
          <a:p>
            <a:endParaRPr lang="es-ES_tradnl" sz="2400" dirty="0">
              <a:latin typeface="Univers Condensed Light" panose="020B050602020205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F826DC6-4164-AFC0-972C-28732CC58E43}"/>
              </a:ext>
            </a:extLst>
          </p:cNvPr>
          <p:cNvSpPr txBox="1">
            <a:spLocks/>
          </p:cNvSpPr>
          <p:nvPr/>
        </p:nvSpPr>
        <p:spPr>
          <a:xfrm>
            <a:off x="800100" y="909919"/>
            <a:ext cx="9464362" cy="129523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sz="5400">
                <a:solidFill>
                  <a:schemeClr val="tx2">
                    <a:lumMod val="90000"/>
                  </a:schemeClr>
                </a:solidFill>
              </a:rPr>
              <a:t>Visualización científica</a:t>
            </a:r>
            <a:r>
              <a:rPr lang="es-ES_tradnl" sz="5400"/>
              <a:t>: </a:t>
            </a:r>
            <a:endParaRPr lang="es-ES_tradnl" sz="54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137F40-32AE-F505-F872-2DEB61078C23}"/>
              </a:ext>
            </a:extLst>
          </p:cNvPr>
          <p:cNvSpPr/>
          <p:nvPr/>
        </p:nvSpPr>
        <p:spPr>
          <a:xfrm>
            <a:off x="596657" y="2792435"/>
            <a:ext cx="5409127" cy="282275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19757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0">
            <a:extLst>
              <a:ext uri="{FF2B5EF4-FFF2-40B4-BE49-F238E27FC236}">
                <a16:creationId xmlns:a16="http://schemas.microsoft.com/office/drawing/2014/main" id="{3E7359C8-1B63-FF34-B441-8F184A6A8AC8}"/>
              </a:ext>
            </a:extLst>
          </p:cNvPr>
          <p:cNvSpPr/>
          <p:nvPr/>
        </p:nvSpPr>
        <p:spPr>
          <a:xfrm>
            <a:off x="874643" y="890074"/>
            <a:ext cx="10774017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l">
              <a:buNone/>
            </a:pPr>
            <a:r>
              <a:rPr lang="en-US" sz="5400" b="1" dirty="0">
                <a:latin typeface="Univers Condensed Light" panose="020B0306020202040204" pitchFamily="34" charset="0"/>
                <a:ea typeface="Calibri" pitchFamily="34" charset="-122"/>
                <a:cs typeface="Calibri" pitchFamily="34" charset="-120"/>
              </a:rPr>
              <a:t>Diez reglas simples para</a:t>
            </a:r>
            <a:endParaRPr lang="en-US" sz="5400" b="1" dirty="0">
              <a:latin typeface="Univers Condensed Light" panose="020B0306020202040204" pitchFamily="34" charset="0"/>
            </a:endParaRPr>
          </a:p>
          <a:p>
            <a:pPr indent="0" algn="l">
              <a:buNone/>
            </a:pPr>
            <a:r>
              <a:rPr lang="en-US" sz="5400" b="1" dirty="0">
                <a:latin typeface="Univers Condensed Light" panose="020B0306020202040204" pitchFamily="34" charset="0"/>
                <a:ea typeface="Calibri" pitchFamily="34" charset="-122"/>
                <a:cs typeface="Calibri" pitchFamily="34" charset="-120"/>
              </a:rPr>
              <a:t>mejores figuras científicas en Python</a:t>
            </a:r>
            <a:endParaRPr lang="en-US" sz="5400" b="1" dirty="0">
              <a:latin typeface="Univers Condensed Light" panose="020B0306020202040204" pitchFamily="34" charset="0"/>
            </a:endParaRPr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40D1B4E4-9A34-62A5-36AA-6B9D1B6A6D8F}"/>
              </a:ext>
            </a:extLst>
          </p:cNvPr>
          <p:cNvSpPr/>
          <p:nvPr/>
        </p:nvSpPr>
        <p:spPr>
          <a:xfrm>
            <a:off x="874643" y="270304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Univers Condensed Light" panose="020B0306020202040204" pitchFamily="34" charset="0"/>
                <a:ea typeface="Calibri" pitchFamily="34" charset="-122"/>
                <a:cs typeface="Calibri" pitchFamily="34" charset="-120"/>
              </a:rPr>
              <a:t>Basado en: Rougier, Droettboom &amp; Bourne (2014) — PLOS Computational Biology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Univers Condensed Light" panose="020B030602020204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BC0446F-FB43-070D-E046-B65B335C3EFA}"/>
              </a:ext>
            </a:extLst>
          </p:cNvPr>
          <p:cNvGrpSpPr/>
          <p:nvPr/>
        </p:nvGrpSpPr>
        <p:grpSpPr>
          <a:xfrm>
            <a:off x="974034" y="3388846"/>
            <a:ext cx="10115723" cy="2549188"/>
            <a:chOff x="974035" y="3388846"/>
            <a:chExt cx="8750808" cy="2157984"/>
          </a:xfrm>
        </p:grpSpPr>
        <p:sp>
          <p:nvSpPr>
            <p:cNvPr id="6" name="Shape 12">
              <a:extLst>
                <a:ext uri="{FF2B5EF4-FFF2-40B4-BE49-F238E27FC236}">
                  <a16:creationId xmlns:a16="http://schemas.microsoft.com/office/drawing/2014/main" id="{454CB376-9F39-3542-D97F-96B1D30B17A3}"/>
                </a:ext>
              </a:extLst>
            </p:cNvPr>
            <p:cNvSpPr/>
            <p:nvPr/>
          </p:nvSpPr>
          <p:spPr>
            <a:xfrm>
              <a:off x="974035" y="3388846"/>
              <a:ext cx="292608" cy="329184"/>
            </a:xfrm>
            <a:prstGeom prst="rect">
              <a:avLst/>
            </a:prstGeom>
            <a:solidFill>
              <a:srgbClr val="E05C2A"/>
            </a:solidFill>
            <a:ln w="12700">
              <a:solidFill>
                <a:srgbClr val="E05C2A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latin typeface="Univers Condensed Light" panose="020B0306020202040204" pitchFamily="34" charset="0"/>
              </a:endParaRPr>
            </a:p>
          </p:txBody>
        </p:sp>
        <p:sp>
          <p:nvSpPr>
            <p:cNvPr id="7" name="Text 13">
              <a:extLst>
                <a:ext uri="{FF2B5EF4-FFF2-40B4-BE49-F238E27FC236}">
                  <a16:creationId xmlns:a16="http://schemas.microsoft.com/office/drawing/2014/main" id="{50E034EC-E058-DF32-421F-67E01A0EFE62}"/>
                </a:ext>
              </a:extLst>
            </p:cNvPr>
            <p:cNvSpPr/>
            <p:nvPr/>
          </p:nvSpPr>
          <p:spPr>
            <a:xfrm>
              <a:off x="974035" y="3388846"/>
              <a:ext cx="29260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8" name="Text 14">
              <a:extLst>
                <a:ext uri="{FF2B5EF4-FFF2-40B4-BE49-F238E27FC236}">
                  <a16:creationId xmlns:a16="http://schemas.microsoft.com/office/drawing/2014/main" id="{AE26146A-5A14-2071-F3E6-01606E2FB042}"/>
                </a:ext>
              </a:extLst>
            </p:cNvPr>
            <p:cNvSpPr/>
            <p:nvPr/>
          </p:nvSpPr>
          <p:spPr>
            <a:xfrm>
              <a:off x="1339795" y="33888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Conoce tu audiencia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9" name="Shape 15">
              <a:extLst>
                <a:ext uri="{FF2B5EF4-FFF2-40B4-BE49-F238E27FC236}">
                  <a16:creationId xmlns:a16="http://schemas.microsoft.com/office/drawing/2014/main" id="{056FDCBE-A0AC-CB3E-B37B-72DB8BFA2A7D}"/>
                </a:ext>
              </a:extLst>
            </p:cNvPr>
            <p:cNvSpPr/>
            <p:nvPr/>
          </p:nvSpPr>
          <p:spPr>
            <a:xfrm>
              <a:off x="974035" y="3846046"/>
              <a:ext cx="292608" cy="329184"/>
            </a:xfrm>
            <a:prstGeom prst="rect">
              <a:avLst/>
            </a:prstGeom>
            <a:solidFill>
              <a:srgbClr val="3A7DC9"/>
            </a:solidFill>
            <a:ln w="12700">
              <a:solidFill>
                <a:srgbClr val="3A7DC9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latin typeface="Univers Condensed Light" panose="020B0306020202040204" pitchFamily="34" charset="0"/>
              </a:endParaRPr>
            </a:p>
          </p:txBody>
        </p:sp>
        <p:sp>
          <p:nvSpPr>
            <p:cNvPr id="10" name="Text 16">
              <a:extLst>
                <a:ext uri="{FF2B5EF4-FFF2-40B4-BE49-F238E27FC236}">
                  <a16:creationId xmlns:a16="http://schemas.microsoft.com/office/drawing/2014/main" id="{EDFBED14-81FD-44A3-467F-5913B596192E}"/>
                </a:ext>
              </a:extLst>
            </p:cNvPr>
            <p:cNvSpPr/>
            <p:nvPr/>
          </p:nvSpPr>
          <p:spPr>
            <a:xfrm>
              <a:off x="974035" y="3846046"/>
              <a:ext cx="29260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11" name="Text 17">
              <a:extLst>
                <a:ext uri="{FF2B5EF4-FFF2-40B4-BE49-F238E27FC236}">
                  <a16:creationId xmlns:a16="http://schemas.microsoft.com/office/drawing/2014/main" id="{46BAF8D6-72BB-27C7-A3F2-1D0301C2BFD4}"/>
                </a:ext>
              </a:extLst>
            </p:cNvPr>
            <p:cNvSpPr/>
            <p:nvPr/>
          </p:nvSpPr>
          <p:spPr>
            <a:xfrm>
              <a:off x="1339795" y="38460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Identifica tu mensaje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12" name="Shape 18">
              <a:extLst>
                <a:ext uri="{FF2B5EF4-FFF2-40B4-BE49-F238E27FC236}">
                  <a16:creationId xmlns:a16="http://schemas.microsoft.com/office/drawing/2014/main" id="{ADD2F23A-81D1-E941-63D4-21E14200C054}"/>
                </a:ext>
              </a:extLst>
            </p:cNvPr>
            <p:cNvSpPr/>
            <p:nvPr/>
          </p:nvSpPr>
          <p:spPr>
            <a:xfrm>
              <a:off x="974035" y="4303246"/>
              <a:ext cx="292608" cy="329184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latin typeface="Univers Condensed Light" panose="020B0306020202040204" pitchFamily="34" charset="0"/>
              </a:endParaRPr>
            </a:p>
          </p:txBody>
        </p:sp>
        <p:sp>
          <p:nvSpPr>
            <p:cNvPr id="13" name="Text 19">
              <a:extLst>
                <a:ext uri="{FF2B5EF4-FFF2-40B4-BE49-F238E27FC236}">
                  <a16:creationId xmlns:a16="http://schemas.microsoft.com/office/drawing/2014/main" id="{5B174F4C-BF2A-ED17-7E45-BF0A78E30BC1}"/>
                </a:ext>
              </a:extLst>
            </p:cNvPr>
            <p:cNvSpPr/>
            <p:nvPr/>
          </p:nvSpPr>
          <p:spPr>
            <a:xfrm>
              <a:off x="974035" y="4303246"/>
              <a:ext cx="29260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14" name="Text 20">
              <a:extLst>
                <a:ext uri="{FF2B5EF4-FFF2-40B4-BE49-F238E27FC236}">
                  <a16:creationId xmlns:a16="http://schemas.microsoft.com/office/drawing/2014/main" id="{44510DD2-A89F-0E41-4C29-7501A4ED9594}"/>
                </a:ext>
              </a:extLst>
            </p:cNvPr>
            <p:cNvSpPr/>
            <p:nvPr/>
          </p:nvSpPr>
          <p:spPr>
            <a:xfrm>
              <a:off x="1339795" y="43032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Adapta la figura al medio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15" name="Shape 21">
              <a:extLst>
                <a:ext uri="{FF2B5EF4-FFF2-40B4-BE49-F238E27FC236}">
                  <a16:creationId xmlns:a16="http://schemas.microsoft.com/office/drawing/2014/main" id="{13E91CEE-82F6-F559-C3C2-15259C9D4A83}"/>
                </a:ext>
              </a:extLst>
            </p:cNvPr>
            <p:cNvSpPr/>
            <p:nvPr/>
          </p:nvSpPr>
          <p:spPr>
            <a:xfrm>
              <a:off x="974035" y="4760446"/>
              <a:ext cx="292608" cy="329184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latin typeface="Univers Condensed Light" panose="020B0306020202040204" pitchFamily="34" charset="0"/>
              </a:endParaRPr>
            </a:p>
          </p:txBody>
        </p:sp>
        <p:sp>
          <p:nvSpPr>
            <p:cNvPr id="16" name="Text 22">
              <a:extLst>
                <a:ext uri="{FF2B5EF4-FFF2-40B4-BE49-F238E27FC236}">
                  <a16:creationId xmlns:a16="http://schemas.microsoft.com/office/drawing/2014/main" id="{F18FB34F-9D79-B241-3AFA-237529A914D6}"/>
                </a:ext>
              </a:extLst>
            </p:cNvPr>
            <p:cNvSpPr/>
            <p:nvPr/>
          </p:nvSpPr>
          <p:spPr>
            <a:xfrm>
              <a:off x="974035" y="4760446"/>
              <a:ext cx="29260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17" name="Text 23">
              <a:extLst>
                <a:ext uri="{FF2B5EF4-FFF2-40B4-BE49-F238E27FC236}">
                  <a16:creationId xmlns:a16="http://schemas.microsoft.com/office/drawing/2014/main" id="{19563F01-37F9-9089-2BBD-514B7146DAFC}"/>
                </a:ext>
              </a:extLst>
            </p:cNvPr>
            <p:cNvSpPr/>
            <p:nvPr/>
          </p:nvSpPr>
          <p:spPr>
            <a:xfrm>
              <a:off x="1339795" y="47604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Los caption no son opcionales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18" name="Shape 24">
              <a:extLst>
                <a:ext uri="{FF2B5EF4-FFF2-40B4-BE49-F238E27FC236}">
                  <a16:creationId xmlns:a16="http://schemas.microsoft.com/office/drawing/2014/main" id="{800660CA-04D9-C0DE-8377-4981E70B84FD}"/>
                </a:ext>
              </a:extLst>
            </p:cNvPr>
            <p:cNvSpPr/>
            <p:nvPr/>
          </p:nvSpPr>
          <p:spPr>
            <a:xfrm>
              <a:off x="974035" y="5217646"/>
              <a:ext cx="292608" cy="329184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latin typeface="Univers Condensed Light" panose="020B0306020202040204" pitchFamily="34" charset="0"/>
              </a:endParaRPr>
            </a:p>
          </p:txBody>
        </p:sp>
        <p:sp>
          <p:nvSpPr>
            <p:cNvPr id="19" name="Text 25">
              <a:extLst>
                <a:ext uri="{FF2B5EF4-FFF2-40B4-BE49-F238E27FC236}">
                  <a16:creationId xmlns:a16="http://schemas.microsoft.com/office/drawing/2014/main" id="{38A04B81-652D-A6D5-C839-13FEA2F85A22}"/>
                </a:ext>
              </a:extLst>
            </p:cNvPr>
            <p:cNvSpPr/>
            <p:nvPr/>
          </p:nvSpPr>
          <p:spPr>
            <a:xfrm>
              <a:off x="974035" y="5217646"/>
              <a:ext cx="29260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20" name="Text 26">
              <a:extLst>
                <a:ext uri="{FF2B5EF4-FFF2-40B4-BE49-F238E27FC236}">
                  <a16:creationId xmlns:a16="http://schemas.microsoft.com/office/drawing/2014/main" id="{B6822B59-E94E-B9F3-4959-C03C8BA46804}"/>
                </a:ext>
              </a:extLst>
            </p:cNvPr>
            <p:cNvSpPr/>
            <p:nvPr/>
          </p:nvSpPr>
          <p:spPr>
            <a:xfrm>
              <a:off x="1339795" y="52176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No confíes en los defaults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21" name="Shape 27">
              <a:extLst>
                <a:ext uri="{FF2B5EF4-FFF2-40B4-BE49-F238E27FC236}">
                  <a16:creationId xmlns:a16="http://schemas.microsoft.com/office/drawing/2014/main" id="{32C27F8C-C964-6797-9AE4-230CB3451957}"/>
                </a:ext>
              </a:extLst>
            </p:cNvPr>
            <p:cNvSpPr/>
            <p:nvPr/>
          </p:nvSpPr>
          <p:spPr>
            <a:xfrm>
              <a:off x="5427163" y="3388846"/>
              <a:ext cx="292608" cy="329184"/>
            </a:xfrm>
            <a:prstGeom prst="rect">
              <a:avLst/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latin typeface="Univers Condensed Light" panose="020B0306020202040204" pitchFamily="34" charset="0"/>
              </a:endParaRPr>
            </a:p>
          </p:txBody>
        </p:sp>
        <p:sp>
          <p:nvSpPr>
            <p:cNvPr id="22" name="Text 28">
              <a:extLst>
                <a:ext uri="{FF2B5EF4-FFF2-40B4-BE49-F238E27FC236}">
                  <a16:creationId xmlns:a16="http://schemas.microsoft.com/office/drawing/2014/main" id="{7E7B8F91-2496-9608-166E-41C86E96D18E}"/>
                </a:ext>
              </a:extLst>
            </p:cNvPr>
            <p:cNvSpPr/>
            <p:nvPr/>
          </p:nvSpPr>
          <p:spPr>
            <a:xfrm>
              <a:off x="5427163" y="3388846"/>
              <a:ext cx="29260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6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23" name="Text 29">
              <a:extLst>
                <a:ext uri="{FF2B5EF4-FFF2-40B4-BE49-F238E27FC236}">
                  <a16:creationId xmlns:a16="http://schemas.microsoft.com/office/drawing/2014/main" id="{DF079155-A802-1E76-CED2-763956F5A210}"/>
                </a:ext>
              </a:extLst>
            </p:cNvPr>
            <p:cNvSpPr/>
            <p:nvPr/>
          </p:nvSpPr>
          <p:spPr>
            <a:xfrm>
              <a:off x="5792923" y="33888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Usa el color con criterio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24" name="Shape 30">
              <a:extLst>
                <a:ext uri="{FF2B5EF4-FFF2-40B4-BE49-F238E27FC236}">
                  <a16:creationId xmlns:a16="http://schemas.microsoft.com/office/drawing/2014/main" id="{EF62BF7C-8DF3-70FB-2B91-1662871BF386}"/>
                </a:ext>
              </a:extLst>
            </p:cNvPr>
            <p:cNvSpPr/>
            <p:nvPr/>
          </p:nvSpPr>
          <p:spPr>
            <a:xfrm>
              <a:off x="5427163" y="3846046"/>
              <a:ext cx="292608" cy="329184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latin typeface="Univers Condensed Light" panose="020B0306020202040204" pitchFamily="34" charset="0"/>
              </a:endParaRPr>
            </a:p>
          </p:txBody>
        </p:sp>
        <p:sp>
          <p:nvSpPr>
            <p:cNvPr id="25" name="Text 31">
              <a:extLst>
                <a:ext uri="{FF2B5EF4-FFF2-40B4-BE49-F238E27FC236}">
                  <a16:creationId xmlns:a16="http://schemas.microsoft.com/office/drawing/2014/main" id="{74E077D3-7620-2A66-FF34-08D88C29A1CC}"/>
                </a:ext>
              </a:extLst>
            </p:cNvPr>
            <p:cNvSpPr/>
            <p:nvPr/>
          </p:nvSpPr>
          <p:spPr>
            <a:xfrm>
              <a:off x="5427163" y="3846046"/>
              <a:ext cx="29260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7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26" name="Text 32">
              <a:extLst>
                <a:ext uri="{FF2B5EF4-FFF2-40B4-BE49-F238E27FC236}">
                  <a16:creationId xmlns:a16="http://schemas.microsoft.com/office/drawing/2014/main" id="{0B6EB66B-AD92-1368-35BF-7B9EA2043256}"/>
                </a:ext>
              </a:extLst>
            </p:cNvPr>
            <p:cNvSpPr/>
            <p:nvPr/>
          </p:nvSpPr>
          <p:spPr>
            <a:xfrm>
              <a:off x="5792923" y="38460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No engañes al lector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27" name="Shape 33">
              <a:extLst>
                <a:ext uri="{FF2B5EF4-FFF2-40B4-BE49-F238E27FC236}">
                  <a16:creationId xmlns:a16="http://schemas.microsoft.com/office/drawing/2014/main" id="{E779B172-CA72-EB3E-C9DB-993B98C14B5F}"/>
                </a:ext>
              </a:extLst>
            </p:cNvPr>
            <p:cNvSpPr/>
            <p:nvPr/>
          </p:nvSpPr>
          <p:spPr>
            <a:xfrm>
              <a:off x="5427163" y="4303246"/>
              <a:ext cx="292608" cy="329184"/>
            </a:xfrm>
            <a:prstGeom prst="rect">
              <a:avLst/>
            </a:prstGeom>
            <a:solidFill>
              <a:srgbClr val="BE185D"/>
            </a:solidFill>
            <a:ln w="12700">
              <a:solidFill>
                <a:srgbClr val="BE185D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latin typeface="Univers Condensed Light" panose="020B0306020202040204" pitchFamily="34" charset="0"/>
              </a:endParaRPr>
            </a:p>
          </p:txBody>
        </p:sp>
        <p:sp>
          <p:nvSpPr>
            <p:cNvPr id="28" name="Text 34">
              <a:extLst>
                <a:ext uri="{FF2B5EF4-FFF2-40B4-BE49-F238E27FC236}">
                  <a16:creationId xmlns:a16="http://schemas.microsoft.com/office/drawing/2014/main" id="{8273748C-7516-DD95-2D3C-E3DA34AE90FD}"/>
                </a:ext>
              </a:extLst>
            </p:cNvPr>
            <p:cNvSpPr/>
            <p:nvPr/>
          </p:nvSpPr>
          <p:spPr>
            <a:xfrm>
              <a:off x="5427163" y="4303246"/>
              <a:ext cx="29260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8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29" name="Text 35">
              <a:extLst>
                <a:ext uri="{FF2B5EF4-FFF2-40B4-BE49-F238E27FC236}">
                  <a16:creationId xmlns:a16="http://schemas.microsoft.com/office/drawing/2014/main" id="{09FF2181-B2C4-AD64-DFF2-DAFA170C42C1}"/>
                </a:ext>
              </a:extLst>
            </p:cNvPr>
            <p:cNvSpPr/>
            <p:nvPr/>
          </p:nvSpPr>
          <p:spPr>
            <a:xfrm>
              <a:off x="5792923" y="43032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Evita el chartjunk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30" name="Shape 36">
              <a:extLst>
                <a:ext uri="{FF2B5EF4-FFF2-40B4-BE49-F238E27FC236}">
                  <a16:creationId xmlns:a16="http://schemas.microsoft.com/office/drawing/2014/main" id="{A66328B7-19C4-9078-6479-F1308E9FC435}"/>
                </a:ext>
              </a:extLst>
            </p:cNvPr>
            <p:cNvSpPr/>
            <p:nvPr/>
          </p:nvSpPr>
          <p:spPr>
            <a:xfrm>
              <a:off x="5427163" y="4760446"/>
              <a:ext cx="292608" cy="329184"/>
            </a:xfrm>
            <a:prstGeom prst="rect">
              <a:avLst/>
            </a:prstGeom>
            <a:solidFill>
              <a:srgbClr val="065F46"/>
            </a:solidFill>
            <a:ln w="12700">
              <a:solidFill>
                <a:srgbClr val="065F46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latin typeface="Univers Condensed Light" panose="020B0306020202040204" pitchFamily="34" charset="0"/>
              </a:endParaRPr>
            </a:p>
          </p:txBody>
        </p:sp>
        <p:sp>
          <p:nvSpPr>
            <p:cNvPr id="31" name="Text 37">
              <a:extLst>
                <a:ext uri="{FF2B5EF4-FFF2-40B4-BE49-F238E27FC236}">
                  <a16:creationId xmlns:a16="http://schemas.microsoft.com/office/drawing/2014/main" id="{AE974F18-9758-65DA-5721-14ED392297ED}"/>
                </a:ext>
              </a:extLst>
            </p:cNvPr>
            <p:cNvSpPr/>
            <p:nvPr/>
          </p:nvSpPr>
          <p:spPr>
            <a:xfrm>
              <a:off x="5427163" y="4760446"/>
              <a:ext cx="29260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9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32" name="Text 38">
              <a:extLst>
                <a:ext uri="{FF2B5EF4-FFF2-40B4-BE49-F238E27FC236}">
                  <a16:creationId xmlns:a16="http://schemas.microsoft.com/office/drawing/2014/main" id="{E3B6DC01-DF8F-6629-BF9D-7EFF1C7F9C0B}"/>
                </a:ext>
              </a:extLst>
            </p:cNvPr>
            <p:cNvSpPr/>
            <p:nvPr/>
          </p:nvSpPr>
          <p:spPr>
            <a:xfrm>
              <a:off x="5792923" y="47604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La figura debe ser reproducible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33" name="Shape 39">
              <a:extLst>
                <a:ext uri="{FF2B5EF4-FFF2-40B4-BE49-F238E27FC236}">
                  <a16:creationId xmlns:a16="http://schemas.microsoft.com/office/drawing/2014/main" id="{C99CAE1C-229B-CAFD-C484-7D06D5A2D779}"/>
                </a:ext>
              </a:extLst>
            </p:cNvPr>
            <p:cNvSpPr/>
            <p:nvPr/>
          </p:nvSpPr>
          <p:spPr>
            <a:xfrm>
              <a:off x="5427163" y="5217646"/>
              <a:ext cx="292608" cy="329184"/>
            </a:xfrm>
            <a:prstGeom prst="rect">
              <a:avLst/>
            </a:prstGeom>
            <a:solidFill>
              <a:srgbClr val="92400E"/>
            </a:solidFill>
            <a:ln w="12700">
              <a:solidFill>
                <a:srgbClr val="92400E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latin typeface="Univers Condensed Light" panose="020B0306020202040204" pitchFamily="34" charset="0"/>
              </a:endParaRPr>
            </a:p>
          </p:txBody>
        </p:sp>
        <p:sp>
          <p:nvSpPr>
            <p:cNvPr id="34" name="Text 40">
              <a:extLst>
                <a:ext uri="{FF2B5EF4-FFF2-40B4-BE49-F238E27FC236}">
                  <a16:creationId xmlns:a16="http://schemas.microsoft.com/office/drawing/2014/main" id="{01D6AB0B-8FF8-828B-4169-AA3200FC543D}"/>
                </a:ext>
              </a:extLst>
            </p:cNvPr>
            <p:cNvSpPr/>
            <p:nvPr/>
          </p:nvSpPr>
          <p:spPr>
            <a:xfrm>
              <a:off x="5427163" y="5217646"/>
              <a:ext cx="29260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10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35" name="Text 41">
              <a:extLst>
                <a:ext uri="{FF2B5EF4-FFF2-40B4-BE49-F238E27FC236}">
                  <a16:creationId xmlns:a16="http://schemas.microsoft.com/office/drawing/2014/main" id="{DB679AE0-6195-E178-E8D3-E16369E04F1F}"/>
                </a:ext>
              </a:extLst>
            </p:cNvPr>
            <p:cNvSpPr/>
            <p:nvPr/>
          </p:nvSpPr>
          <p:spPr>
            <a:xfrm>
              <a:off x="5792923" y="52176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 err="1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Conoce</a:t>
              </a: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 las </a:t>
              </a:r>
              <a:r>
                <a:rPr lang="en-US" sz="2400" dirty="0" err="1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herramientas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5085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DAB05-5F46-F77D-C2FD-DF367FC5A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0">
            <a:extLst>
              <a:ext uri="{FF2B5EF4-FFF2-40B4-BE49-F238E27FC236}">
                <a16:creationId xmlns:a16="http://schemas.microsoft.com/office/drawing/2014/main" id="{754A0E36-9735-4216-8028-BF9804839876}"/>
              </a:ext>
            </a:extLst>
          </p:cNvPr>
          <p:cNvSpPr/>
          <p:nvPr/>
        </p:nvSpPr>
        <p:spPr>
          <a:xfrm>
            <a:off x="874643" y="919966"/>
            <a:ext cx="10774017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latin typeface="Univers Condensed Light" panose="020B0306020202040204" pitchFamily="34" charset="0"/>
                <a:ea typeface="Calibri" pitchFamily="34" charset="-122"/>
                <a:cs typeface="Calibri" pitchFamily="34" charset="-120"/>
              </a:rPr>
              <a:t>Diez reglas simples para</a:t>
            </a:r>
            <a:endParaRPr lang="en-US" sz="5400" b="1" dirty="0">
              <a:latin typeface="Univers Condensed Light" panose="020B0306020202040204" pitchFamily="34" charset="0"/>
            </a:endParaRPr>
          </a:p>
          <a:p>
            <a:pPr marL="0" indent="0" algn="l">
              <a:buNone/>
            </a:pPr>
            <a:r>
              <a:rPr lang="en-US" sz="5400" b="1" dirty="0">
                <a:latin typeface="Univers Condensed Light" panose="020B0306020202040204" pitchFamily="34" charset="0"/>
                <a:ea typeface="Calibri" pitchFamily="34" charset="-122"/>
                <a:cs typeface="Calibri" pitchFamily="34" charset="-120"/>
              </a:rPr>
              <a:t>mejores figuras científicas en Python</a:t>
            </a:r>
            <a:endParaRPr lang="en-US" sz="5400" b="1" dirty="0">
              <a:latin typeface="Univers Condensed Light" panose="020B0306020202040204" pitchFamily="34" charset="0"/>
            </a:endParaRPr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B861B6F4-2A8E-91F7-9B4A-4C61204D1999}"/>
              </a:ext>
            </a:extLst>
          </p:cNvPr>
          <p:cNvSpPr/>
          <p:nvPr/>
        </p:nvSpPr>
        <p:spPr>
          <a:xfrm>
            <a:off x="874643" y="270304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Univers Condensed Light" panose="020B0306020202040204" pitchFamily="34" charset="0"/>
                <a:ea typeface="Calibri" pitchFamily="34" charset="-122"/>
                <a:cs typeface="Calibri" pitchFamily="34" charset="-120"/>
              </a:rPr>
              <a:t>Basado en: Rougier, Droettboom &amp; Bourne (2014) — PLOS Computational Biology</a:t>
            </a:r>
            <a:endParaRPr lang="en-US" dirty="0">
              <a:solidFill>
                <a:schemeClr val="accent5">
                  <a:lumMod val="75000"/>
                </a:schemeClr>
              </a:solidFill>
              <a:latin typeface="Univers Condensed Light" panose="020B030602020204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E386770-149D-7E5C-6236-F32B15EC1613}"/>
              </a:ext>
            </a:extLst>
          </p:cNvPr>
          <p:cNvGrpSpPr/>
          <p:nvPr/>
        </p:nvGrpSpPr>
        <p:grpSpPr>
          <a:xfrm>
            <a:off x="974034" y="3388846"/>
            <a:ext cx="10115723" cy="2549188"/>
            <a:chOff x="974035" y="3388846"/>
            <a:chExt cx="8750808" cy="2157984"/>
          </a:xfrm>
        </p:grpSpPr>
        <p:sp>
          <p:nvSpPr>
            <p:cNvPr id="6" name="Shape 12">
              <a:extLst>
                <a:ext uri="{FF2B5EF4-FFF2-40B4-BE49-F238E27FC236}">
                  <a16:creationId xmlns:a16="http://schemas.microsoft.com/office/drawing/2014/main" id="{308CA060-0F2C-28D6-A0B5-7BAC2630B4D3}"/>
                </a:ext>
              </a:extLst>
            </p:cNvPr>
            <p:cNvSpPr/>
            <p:nvPr/>
          </p:nvSpPr>
          <p:spPr>
            <a:xfrm>
              <a:off x="974035" y="3388846"/>
              <a:ext cx="292608" cy="329184"/>
            </a:xfrm>
            <a:prstGeom prst="rect">
              <a:avLst/>
            </a:prstGeom>
            <a:solidFill>
              <a:srgbClr val="E05C2A"/>
            </a:solidFill>
            <a:ln w="12700">
              <a:solidFill>
                <a:srgbClr val="E05C2A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latin typeface="Univers Condensed Light" panose="020B0306020202040204" pitchFamily="34" charset="0"/>
              </a:endParaRPr>
            </a:p>
          </p:txBody>
        </p:sp>
        <p:sp>
          <p:nvSpPr>
            <p:cNvPr id="7" name="Text 13">
              <a:extLst>
                <a:ext uri="{FF2B5EF4-FFF2-40B4-BE49-F238E27FC236}">
                  <a16:creationId xmlns:a16="http://schemas.microsoft.com/office/drawing/2014/main" id="{C0B47416-BF89-0C55-03B9-1D97771553D0}"/>
                </a:ext>
              </a:extLst>
            </p:cNvPr>
            <p:cNvSpPr/>
            <p:nvPr/>
          </p:nvSpPr>
          <p:spPr>
            <a:xfrm>
              <a:off x="974035" y="3388846"/>
              <a:ext cx="29260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8" name="Text 14">
              <a:extLst>
                <a:ext uri="{FF2B5EF4-FFF2-40B4-BE49-F238E27FC236}">
                  <a16:creationId xmlns:a16="http://schemas.microsoft.com/office/drawing/2014/main" id="{84F08CC8-D77D-D7F8-CACA-8990A72CCA9D}"/>
                </a:ext>
              </a:extLst>
            </p:cNvPr>
            <p:cNvSpPr/>
            <p:nvPr/>
          </p:nvSpPr>
          <p:spPr>
            <a:xfrm>
              <a:off x="1339795" y="33888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Conoce tu audiencia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9" name="Shape 15">
              <a:extLst>
                <a:ext uri="{FF2B5EF4-FFF2-40B4-BE49-F238E27FC236}">
                  <a16:creationId xmlns:a16="http://schemas.microsoft.com/office/drawing/2014/main" id="{7FBBE9D9-037E-1A1C-AC5A-AE876C88BEF2}"/>
                </a:ext>
              </a:extLst>
            </p:cNvPr>
            <p:cNvSpPr/>
            <p:nvPr/>
          </p:nvSpPr>
          <p:spPr>
            <a:xfrm>
              <a:off x="974035" y="3846046"/>
              <a:ext cx="292608" cy="329184"/>
            </a:xfrm>
            <a:prstGeom prst="rect">
              <a:avLst/>
            </a:prstGeom>
            <a:solidFill>
              <a:srgbClr val="3A7DC9"/>
            </a:solidFill>
            <a:ln w="12700">
              <a:solidFill>
                <a:srgbClr val="3A7DC9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latin typeface="Univers Condensed Light" panose="020B0306020202040204" pitchFamily="34" charset="0"/>
              </a:endParaRPr>
            </a:p>
          </p:txBody>
        </p:sp>
        <p:sp>
          <p:nvSpPr>
            <p:cNvPr id="10" name="Text 16">
              <a:extLst>
                <a:ext uri="{FF2B5EF4-FFF2-40B4-BE49-F238E27FC236}">
                  <a16:creationId xmlns:a16="http://schemas.microsoft.com/office/drawing/2014/main" id="{C8EEEAA4-604A-5F0D-D2CF-4AF23D71242D}"/>
                </a:ext>
              </a:extLst>
            </p:cNvPr>
            <p:cNvSpPr/>
            <p:nvPr/>
          </p:nvSpPr>
          <p:spPr>
            <a:xfrm>
              <a:off x="974035" y="3846046"/>
              <a:ext cx="29260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11" name="Text 17">
              <a:extLst>
                <a:ext uri="{FF2B5EF4-FFF2-40B4-BE49-F238E27FC236}">
                  <a16:creationId xmlns:a16="http://schemas.microsoft.com/office/drawing/2014/main" id="{42CB84A8-90E2-4EAF-3635-D26F0F444680}"/>
                </a:ext>
              </a:extLst>
            </p:cNvPr>
            <p:cNvSpPr/>
            <p:nvPr/>
          </p:nvSpPr>
          <p:spPr>
            <a:xfrm>
              <a:off x="1339795" y="38460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Identifica tu mensaje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14" name="Text 20">
              <a:extLst>
                <a:ext uri="{FF2B5EF4-FFF2-40B4-BE49-F238E27FC236}">
                  <a16:creationId xmlns:a16="http://schemas.microsoft.com/office/drawing/2014/main" id="{32C785FD-90FC-B488-B8DD-33C1186AF66E}"/>
                </a:ext>
              </a:extLst>
            </p:cNvPr>
            <p:cNvSpPr/>
            <p:nvPr/>
          </p:nvSpPr>
          <p:spPr>
            <a:xfrm>
              <a:off x="1339795" y="43032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Adapta la figura al medio</a:t>
              </a:r>
              <a:endParaRPr lang="en-US" sz="2400" dirty="0">
                <a:solidFill>
                  <a:schemeClr val="bg1">
                    <a:lumMod val="65000"/>
                  </a:schemeClr>
                </a:solidFill>
                <a:latin typeface="Univers Condensed Light" panose="020B0306020202040204" pitchFamily="34" charset="0"/>
              </a:endParaRPr>
            </a:p>
          </p:txBody>
        </p:sp>
        <p:sp>
          <p:nvSpPr>
            <p:cNvPr id="17" name="Text 23">
              <a:extLst>
                <a:ext uri="{FF2B5EF4-FFF2-40B4-BE49-F238E27FC236}">
                  <a16:creationId xmlns:a16="http://schemas.microsoft.com/office/drawing/2014/main" id="{6B616148-DFDA-B88F-FAC8-0AA487D9448E}"/>
                </a:ext>
              </a:extLst>
            </p:cNvPr>
            <p:cNvSpPr/>
            <p:nvPr/>
          </p:nvSpPr>
          <p:spPr>
            <a:xfrm>
              <a:off x="1339795" y="47604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Los caption no son opcionales</a:t>
              </a:r>
              <a:endParaRPr lang="en-US" sz="2400" dirty="0">
                <a:solidFill>
                  <a:schemeClr val="bg1">
                    <a:lumMod val="65000"/>
                  </a:schemeClr>
                </a:solidFill>
                <a:latin typeface="Univers Condensed Light" panose="020B0306020202040204" pitchFamily="34" charset="0"/>
              </a:endParaRPr>
            </a:p>
          </p:txBody>
        </p:sp>
        <p:sp>
          <p:nvSpPr>
            <p:cNvPr id="18" name="Shape 24">
              <a:extLst>
                <a:ext uri="{FF2B5EF4-FFF2-40B4-BE49-F238E27FC236}">
                  <a16:creationId xmlns:a16="http://schemas.microsoft.com/office/drawing/2014/main" id="{330D5243-A9E7-27D3-FCE8-D526633A38EA}"/>
                </a:ext>
              </a:extLst>
            </p:cNvPr>
            <p:cNvSpPr/>
            <p:nvPr/>
          </p:nvSpPr>
          <p:spPr>
            <a:xfrm>
              <a:off x="974035" y="5217646"/>
              <a:ext cx="292608" cy="329184"/>
            </a:xfrm>
            <a:prstGeom prst="rect">
              <a:avLst/>
            </a:prstGeom>
            <a:solidFill>
              <a:srgbClr val="EF4444"/>
            </a:solidFill>
            <a:ln w="12700">
              <a:solidFill>
                <a:srgbClr val="EF4444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latin typeface="Univers Condensed Light" panose="020B0306020202040204" pitchFamily="34" charset="0"/>
              </a:endParaRPr>
            </a:p>
          </p:txBody>
        </p:sp>
        <p:sp>
          <p:nvSpPr>
            <p:cNvPr id="19" name="Text 25">
              <a:extLst>
                <a:ext uri="{FF2B5EF4-FFF2-40B4-BE49-F238E27FC236}">
                  <a16:creationId xmlns:a16="http://schemas.microsoft.com/office/drawing/2014/main" id="{047EC7EB-EBA6-65FF-8712-FE751F2090FD}"/>
                </a:ext>
              </a:extLst>
            </p:cNvPr>
            <p:cNvSpPr/>
            <p:nvPr/>
          </p:nvSpPr>
          <p:spPr>
            <a:xfrm>
              <a:off x="974035" y="5217646"/>
              <a:ext cx="29260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5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20" name="Text 26">
              <a:extLst>
                <a:ext uri="{FF2B5EF4-FFF2-40B4-BE49-F238E27FC236}">
                  <a16:creationId xmlns:a16="http://schemas.microsoft.com/office/drawing/2014/main" id="{5B2E0DAE-7C14-3C76-459E-722FC82E8769}"/>
                </a:ext>
              </a:extLst>
            </p:cNvPr>
            <p:cNvSpPr/>
            <p:nvPr/>
          </p:nvSpPr>
          <p:spPr>
            <a:xfrm>
              <a:off x="1339795" y="52176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No confíes en los defaults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21" name="Shape 27">
              <a:extLst>
                <a:ext uri="{FF2B5EF4-FFF2-40B4-BE49-F238E27FC236}">
                  <a16:creationId xmlns:a16="http://schemas.microsoft.com/office/drawing/2014/main" id="{7A098BA7-1DE6-86DC-10CF-48D80A12C18D}"/>
                </a:ext>
              </a:extLst>
            </p:cNvPr>
            <p:cNvSpPr/>
            <p:nvPr/>
          </p:nvSpPr>
          <p:spPr>
            <a:xfrm>
              <a:off x="5427163" y="3388846"/>
              <a:ext cx="292608" cy="329184"/>
            </a:xfrm>
            <a:prstGeom prst="rect">
              <a:avLst/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latin typeface="Univers Condensed Light" panose="020B0306020202040204" pitchFamily="34" charset="0"/>
              </a:endParaRPr>
            </a:p>
          </p:txBody>
        </p:sp>
        <p:sp>
          <p:nvSpPr>
            <p:cNvPr id="22" name="Text 28">
              <a:extLst>
                <a:ext uri="{FF2B5EF4-FFF2-40B4-BE49-F238E27FC236}">
                  <a16:creationId xmlns:a16="http://schemas.microsoft.com/office/drawing/2014/main" id="{146ACDB5-DCEC-9FC4-4220-883C33FD51D9}"/>
                </a:ext>
              </a:extLst>
            </p:cNvPr>
            <p:cNvSpPr/>
            <p:nvPr/>
          </p:nvSpPr>
          <p:spPr>
            <a:xfrm>
              <a:off x="5427163" y="3388846"/>
              <a:ext cx="29260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6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23" name="Text 29">
              <a:extLst>
                <a:ext uri="{FF2B5EF4-FFF2-40B4-BE49-F238E27FC236}">
                  <a16:creationId xmlns:a16="http://schemas.microsoft.com/office/drawing/2014/main" id="{00E03A5B-6837-D84F-59E0-976BF4BD0E60}"/>
                </a:ext>
              </a:extLst>
            </p:cNvPr>
            <p:cNvSpPr/>
            <p:nvPr/>
          </p:nvSpPr>
          <p:spPr>
            <a:xfrm>
              <a:off x="5792923" y="33888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Usa el color con criterio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24" name="Shape 30">
              <a:extLst>
                <a:ext uri="{FF2B5EF4-FFF2-40B4-BE49-F238E27FC236}">
                  <a16:creationId xmlns:a16="http://schemas.microsoft.com/office/drawing/2014/main" id="{AA927592-9A60-293F-A5AF-BBA8FEBA8D4A}"/>
                </a:ext>
              </a:extLst>
            </p:cNvPr>
            <p:cNvSpPr/>
            <p:nvPr/>
          </p:nvSpPr>
          <p:spPr>
            <a:xfrm>
              <a:off x="5427163" y="3846046"/>
              <a:ext cx="292608" cy="329184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latin typeface="Univers Condensed Light" panose="020B0306020202040204" pitchFamily="34" charset="0"/>
              </a:endParaRPr>
            </a:p>
          </p:txBody>
        </p:sp>
        <p:sp>
          <p:nvSpPr>
            <p:cNvPr id="25" name="Text 31">
              <a:extLst>
                <a:ext uri="{FF2B5EF4-FFF2-40B4-BE49-F238E27FC236}">
                  <a16:creationId xmlns:a16="http://schemas.microsoft.com/office/drawing/2014/main" id="{E099F250-FD6E-0459-227B-43DB28A1014F}"/>
                </a:ext>
              </a:extLst>
            </p:cNvPr>
            <p:cNvSpPr/>
            <p:nvPr/>
          </p:nvSpPr>
          <p:spPr>
            <a:xfrm>
              <a:off x="5427163" y="3846046"/>
              <a:ext cx="29260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7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26" name="Text 32">
              <a:extLst>
                <a:ext uri="{FF2B5EF4-FFF2-40B4-BE49-F238E27FC236}">
                  <a16:creationId xmlns:a16="http://schemas.microsoft.com/office/drawing/2014/main" id="{9916B4FB-7134-15DE-F88A-05B1CBD2F8A0}"/>
                </a:ext>
              </a:extLst>
            </p:cNvPr>
            <p:cNvSpPr/>
            <p:nvPr/>
          </p:nvSpPr>
          <p:spPr>
            <a:xfrm>
              <a:off x="5792923" y="38460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No engañes al lector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27" name="Shape 33">
              <a:extLst>
                <a:ext uri="{FF2B5EF4-FFF2-40B4-BE49-F238E27FC236}">
                  <a16:creationId xmlns:a16="http://schemas.microsoft.com/office/drawing/2014/main" id="{863D7CA2-02E1-FEF1-CDFD-BA190167269D}"/>
                </a:ext>
              </a:extLst>
            </p:cNvPr>
            <p:cNvSpPr/>
            <p:nvPr/>
          </p:nvSpPr>
          <p:spPr>
            <a:xfrm>
              <a:off x="5427163" y="4303246"/>
              <a:ext cx="292608" cy="329184"/>
            </a:xfrm>
            <a:prstGeom prst="rect">
              <a:avLst/>
            </a:prstGeom>
            <a:solidFill>
              <a:srgbClr val="BE185D"/>
            </a:solidFill>
            <a:ln w="12700">
              <a:solidFill>
                <a:srgbClr val="BE185D"/>
              </a:solidFill>
              <a:prstDash val="solid"/>
            </a:ln>
          </p:spPr>
          <p:txBody>
            <a:bodyPr/>
            <a:lstStyle/>
            <a:p>
              <a:endParaRPr lang="es-ES_tradnl" sz="4000">
                <a:latin typeface="Univers Condensed Light" panose="020B0306020202040204" pitchFamily="34" charset="0"/>
              </a:endParaRPr>
            </a:p>
          </p:txBody>
        </p:sp>
        <p:sp>
          <p:nvSpPr>
            <p:cNvPr id="28" name="Text 34">
              <a:extLst>
                <a:ext uri="{FF2B5EF4-FFF2-40B4-BE49-F238E27FC236}">
                  <a16:creationId xmlns:a16="http://schemas.microsoft.com/office/drawing/2014/main" id="{FA886BD8-D15D-B8FD-F3FD-3C50C896351E}"/>
                </a:ext>
              </a:extLst>
            </p:cNvPr>
            <p:cNvSpPr/>
            <p:nvPr/>
          </p:nvSpPr>
          <p:spPr>
            <a:xfrm>
              <a:off x="5427163" y="4303246"/>
              <a:ext cx="292608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8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29" name="Text 35">
              <a:extLst>
                <a:ext uri="{FF2B5EF4-FFF2-40B4-BE49-F238E27FC236}">
                  <a16:creationId xmlns:a16="http://schemas.microsoft.com/office/drawing/2014/main" id="{9A6968D9-A7FD-36BD-F62D-F0EF02550EB3}"/>
                </a:ext>
              </a:extLst>
            </p:cNvPr>
            <p:cNvSpPr/>
            <p:nvPr/>
          </p:nvSpPr>
          <p:spPr>
            <a:xfrm>
              <a:off x="5792923" y="43032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Evita el chartjunk</a:t>
              </a:r>
              <a:endParaRPr lang="en-US" sz="2400" dirty="0">
                <a:latin typeface="Univers Condensed Light" panose="020B0306020202040204" pitchFamily="34" charset="0"/>
              </a:endParaRPr>
            </a:p>
          </p:txBody>
        </p:sp>
        <p:sp>
          <p:nvSpPr>
            <p:cNvPr id="32" name="Text 38">
              <a:extLst>
                <a:ext uri="{FF2B5EF4-FFF2-40B4-BE49-F238E27FC236}">
                  <a16:creationId xmlns:a16="http://schemas.microsoft.com/office/drawing/2014/main" id="{4746A11B-1257-FCFF-D8C5-C4EC0479F2D6}"/>
                </a:ext>
              </a:extLst>
            </p:cNvPr>
            <p:cNvSpPr/>
            <p:nvPr/>
          </p:nvSpPr>
          <p:spPr>
            <a:xfrm>
              <a:off x="5792923" y="47604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La figura debe ser reproducible</a:t>
              </a:r>
              <a:endParaRPr lang="en-US" sz="2400" dirty="0">
                <a:solidFill>
                  <a:schemeClr val="bg1">
                    <a:lumMod val="65000"/>
                  </a:schemeClr>
                </a:solidFill>
                <a:latin typeface="Univers Condensed Light" panose="020B0306020202040204" pitchFamily="34" charset="0"/>
              </a:endParaRPr>
            </a:p>
          </p:txBody>
        </p:sp>
        <p:sp>
          <p:nvSpPr>
            <p:cNvPr id="35" name="Text 41">
              <a:extLst>
                <a:ext uri="{FF2B5EF4-FFF2-40B4-BE49-F238E27FC236}">
                  <a16:creationId xmlns:a16="http://schemas.microsoft.com/office/drawing/2014/main" id="{B2CD47E9-1CE6-87E8-3B7F-24A4D89BC856}"/>
                </a:ext>
              </a:extLst>
            </p:cNvPr>
            <p:cNvSpPr/>
            <p:nvPr/>
          </p:nvSpPr>
          <p:spPr>
            <a:xfrm>
              <a:off x="5792923" y="5217646"/>
              <a:ext cx="3931920" cy="3291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2400" dirty="0" err="1">
                  <a:solidFill>
                    <a:schemeClr val="bg1">
                      <a:lumMod val="65000"/>
                    </a:schemeClr>
                  </a:solidFill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Conoce</a:t>
              </a:r>
              <a:r>
                <a:rPr lang="en-US" sz="2400" dirty="0">
                  <a:solidFill>
                    <a:schemeClr val="bg1">
                      <a:lumMod val="65000"/>
                    </a:schemeClr>
                  </a:solidFill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 las </a:t>
              </a:r>
              <a:r>
                <a:rPr lang="en-US" sz="2400" dirty="0" err="1">
                  <a:solidFill>
                    <a:schemeClr val="bg1">
                      <a:lumMod val="65000"/>
                    </a:schemeClr>
                  </a:solidFill>
                  <a:latin typeface="Univers Condensed Light" panose="020B0306020202040204" pitchFamily="34" charset="0"/>
                  <a:ea typeface="Calibri" pitchFamily="34" charset="-122"/>
                  <a:cs typeface="Calibri" pitchFamily="34" charset="-120"/>
                </a:rPr>
                <a:t>herramientas</a:t>
              </a:r>
              <a:endParaRPr lang="en-US" sz="2400" dirty="0">
                <a:solidFill>
                  <a:schemeClr val="bg1">
                    <a:lumMod val="65000"/>
                  </a:schemeClr>
                </a:solidFill>
                <a:latin typeface="Univers Condensed Light" panose="020B0306020202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3892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AC49537-D7DE-964B-F47E-92C22BC54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12" y="2526469"/>
            <a:ext cx="10512376" cy="313509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BA915DF-08F0-E0B6-298E-1DD501EED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812" y="914400"/>
            <a:ext cx="10552088" cy="1307592"/>
          </a:xfrm>
        </p:spPr>
        <p:txBody>
          <a:bodyPr>
            <a:normAutofit/>
          </a:bodyPr>
          <a:lstStyle/>
          <a:p>
            <a:r>
              <a:rPr lang="es-ES_tradnl" sz="6000" b="1" dirty="0">
                <a:latin typeface="Univers Condensed Light" panose="020B0306020202040204" pitchFamily="34" charset="0"/>
              </a:rPr>
              <a:t>Los favoritos de la profe:</a:t>
            </a:r>
          </a:p>
        </p:txBody>
      </p:sp>
    </p:spTree>
    <p:extLst>
      <p:ext uri="{BB962C8B-B14F-4D97-AF65-F5344CB8AC3E}">
        <p14:creationId xmlns:p14="http://schemas.microsoft.com/office/powerpoint/2010/main" val="376970400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2464</TotalTime>
  <Words>237</Words>
  <Application>Microsoft Macintosh PowerPoint</Application>
  <PresentationFormat>Widescreen</PresentationFormat>
  <Paragraphs>64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Calisto MT</vt:lpstr>
      <vt:lpstr>Univers Condensed</vt:lpstr>
      <vt:lpstr>Univers Condensed Light</vt:lpstr>
      <vt:lpstr>ChronicleVTI</vt:lpstr>
      <vt:lpstr>Visualización CIENTÍFICA</vt:lpstr>
      <vt:lpstr>PowerPoint Presentation</vt:lpstr>
      <vt:lpstr>PowerPoint Presentation</vt:lpstr>
      <vt:lpstr>PowerPoint Presentation</vt:lpstr>
      <vt:lpstr>PowerPoint Presentation</vt:lpstr>
      <vt:lpstr>Los favoritos de la profe: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Manuela Bastidas Olivares</dc:creator>
  <cp:lastModifiedBy>Manuela Bastidas Olivares</cp:lastModifiedBy>
  <cp:revision>7</cp:revision>
  <dcterms:created xsi:type="dcterms:W3CDTF">2026-05-04T16:03:53Z</dcterms:created>
  <dcterms:modified xsi:type="dcterms:W3CDTF">2026-05-08T00:18:49Z</dcterms:modified>
</cp:coreProperties>
</file>